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2" r:id="rId3"/>
    <p:sldId id="300" r:id="rId4"/>
    <p:sldId id="293" r:id="rId5"/>
    <p:sldId id="304" r:id="rId6"/>
    <p:sldId id="30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8C549-EC9D-41FA-B28C-F74D1D408E36}" type="doc">
      <dgm:prSet loTypeId="urn:microsoft.com/office/officeart/2005/8/layout/list1" loCatId="list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IN"/>
        </a:p>
      </dgm:t>
    </dgm:pt>
    <dgm:pt modelId="{4494A053-A01F-49B3-A840-67BEA28E1D11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Education:</a:t>
          </a:r>
          <a:endParaRPr lang="en-IN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C62A9C-706F-4006-917A-107B1E9458EC}" type="parTrans" cxnId="{9A03EB46-136A-442F-83EE-68E4CD59632B}">
      <dgm:prSet/>
      <dgm:spPr/>
      <dgm:t>
        <a:bodyPr/>
        <a:lstStyle/>
        <a:p>
          <a:endParaRPr lang="en-IN"/>
        </a:p>
      </dgm:t>
    </dgm:pt>
    <dgm:pt modelId="{44C74002-39FC-41BE-94CC-3C4A7EEEB44A}" type="sibTrans" cxnId="{9A03EB46-136A-442F-83EE-68E4CD59632B}">
      <dgm:prSet/>
      <dgm:spPr/>
      <dgm:t>
        <a:bodyPr/>
        <a:lstStyle/>
        <a:p>
          <a:endParaRPr lang="en-IN"/>
        </a:p>
      </dgm:t>
    </dgm:pt>
    <dgm:pt modelId="{AE4F9183-5D76-4C75-B4FC-7613BD7270D8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Spatial and analytical thinking:</a:t>
          </a:r>
          <a:endParaRPr lang="en-IN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CE1B43-1CE3-4836-8A2E-6F1C49C192C2}" type="parTrans" cxnId="{E6111FF2-DF70-4C16-A9DD-AB4F26C062B0}">
      <dgm:prSet/>
      <dgm:spPr/>
      <dgm:t>
        <a:bodyPr/>
        <a:lstStyle/>
        <a:p>
          <a:endParaRPr lang="en-IN"/>
        </a:p>
      </dgm:t>
    </dgm:pt>
    <dgm:pt modelId="{6953C630-845C-4A2F-9DE1-FB6FA0293BBD}" type="sibTrans" cxnId="{E6111FF2-DF70-4C16-A9DD-AB4F26C062B0}">
      <dgm:prSet/>
      <dgm:spPr/>
      <dgm:t>
        <a:bodyPr/>
        <a:lstStyle/>
        <a:p>
          <a:endParaRPr lang="en-IN"/>
        </a:p>
      </dgm:t>
    </dgm:pt>
    <dgm:pt modelId="{7ACAEB4D-BC93-4325-BC29-78216A346CB3}" type="pres">
      <dgm:prSet presAssocID="{F918C549-EC9D-41FA-B28C-F74D1D408E36}" presName="linear" presStyleCnt="0">
        <dgm:presLayoutVars>
          <dgm:dir/>
          <dgm:animLvl val="lvl"/>
          <dgm:resizeHandles val="exact"/>
        </dgm:presLayoutVars>
      </dgm:prSet>
      <dgm:spPr/>
    </dgm:pt>
    <dgm:pt modelId="{93C7B786-A511-4D86-AC7B-86E6AA90CB1D}" type="pres">
      <dgm:prSet presAssocID="{4494A053-A01F-49B3-A840-67BEA28E1D11}" presName="parentLin" presStyleCnt="0"/>
      <dgm:spPr/>
    </dgm:pt>
    <dgm:pt modelId="{0EB9E247-276A-45C8-9A72-B512D32092EC}" type="pres">
      <dgm:prSet presAssocID="{4494A053-A01F-49B3-A840-67BEA28E1D11}" presName="parentLeftMargin" presStyleLbl="node1" presStyleIdx="0" presStyleCnt="2" custScaleY="64824"/>
      <dgm:spPr/>
    </dgm:pt>
    <dgm:pt modelId="{8D59C2E2-CB8B-4211-A9DB-9D9A1612E32B}" type="pres">
      <dgm:prSet presAssocID="{4494A053-A01F-49B3-A840-67BEA28E1D11}" presName="parentText" presStyleLbl="node1" presStyleIdx="0" presStyleCnt="2" custScaleY="78047">
        <dgm:presLayoutVars>
          <dgm:chMax val="0"/>
          <dgm:bulletEnabled val="1"/>
        </dgm:presLayoutVars>
      </dgm:prSet>
      <dgm:spPr/>
    </dgm:pt>
    <dgm:pt modelId="{9585CFEE-DB4B-4A89-BFDD-06A5311618BC}" type="pres">
      <dgm:prSet presAssocID="{4494A053-A01F-49B3-A840-67BEA28E1D11}" presName="negativeSpace" presStyleCnt="0"/>
      <dgm:spPr/>
    </dgm:pt>
    <dgm:pt modelId="{78FA510A-EBB2-46F5-ACEB-AA2736F70CE4}" type="pres">
      <dgm:prSet presAssocID="{4494A053-A01F-49B3-A840-67BEA28E1D11}" presName="childText" presStyleLbl="conFgAcc1" presStyleIdx="0" presStyleCnt="2" custScaleY="329070">
        <dgm:presLayoutVars>
          <dgm:bulletEnabled val="1"/>
        </dgm:presLayoutVars>
      </dgm:prSet>
      <dgm:spPr/>
    </dgm:pt>
    <dgm:pt modelId="{8C111F67-A892-4EBE-AA52-E7343CE14B9B}" type="pres">
      <dgm:prSet presAssocID="{44C74002-39FC-41BE-94CC-3C4A7EEEB44A}" presName="spaceBetweenRectangles" presStyleCnt="0"/>
      <dgm:spPr/>
    </dgm:pt>
    <dgm:pt modelId="{1E119D81-151E-4253-AB88-5A9B19276AE2}" type="pres">
      <dgm:prSet presAssocID="{AE4F9183-5D76-4C75-B4FC-7613BD7270D8}" presName="parentLin" presStyleCnt="0"/>
      <dgm:spPr/>
    </dgm:pt>
    <dgm:pt modelId="{CB968A80-C736-44DD-B28A-F310D30F77D5}" type="pres">
      <dgm:prSet presAssocID="{AE4F9183-5D76-4C75-B4FC-7613BD7270D8}" presName="parentLeftMargin" presStyleLbl="node1" presStyleIdx="0" presStyleCnt="2" custScaleY="64824"/>
      <dgm:spPr/>
    </dgm:pt>
    <dgm:pt modelId="{C05CC03D-1AE5-4F85-8EB9-E14E8662A16E}" type="pres">
      <dgm:prSet presAssocID="{AE4F9183-5D76-4C75-B4FC-7613BD7270D8}" presName="parentText" presStyleLbl="node1" presStyleIdx="1" presStyleCnt="2" custScaleY="89906">
        <dgm:presLayoutVars>
          <dgm:chMax val="0"/>
          <dgm:bulletEnabled val="1"/>
        </dgm:presLayoutVars>
      </dgm:prSet>
      <dgm:spPr/>
    </dgm:pt>
    <dgm:pt modelId="{7E757926-0682-4D16-AAAE-2E30BF550139}" type="pres">
      <dgm:prSet presAssocID="{AE4F9183-5D76-4C75-B4FC-7613BD7270D8}" presName="negativeSpace" presStyleCnt="0"/>
      <dgm:spPr/>
    </dgm:pt>
    <dgm:pt modelId="{012887DB-7282-4A6B-BF98-AD47C71C71D7}" type="pres">
      <dgm:prSet presAssocID="{AE4F9183-5D76-4C75-B4FC-7613BD7270D8}" presName="childText" presStyleLbl="conFgAcc1" presStyleIdx="1" presStyleCnt="2" custScaleY="238941">
        <dgm:presLayoutVars>
          <dgm:bulletEnabled val="1"/>
        </dgm:presLayoutVars>
      </dgm:prSet>
      <dgm:spPr/>
    </dgm:pt>
  </dgm:ptLst>
  <dgm:cxnLst>
    <dgm:cxn modelId="{1614E863-F20F-461E-9695-1DB3C79B4EE0}" type="presOf" srcId="{AE4F9183-5D76-4C75-B4FC-7613BD7270D8}" destId="{CB968A80-C736-44DD-B28A-F310D30F77D5}" srcOrd="0" destOrd="0" presId="urn:microsoft.com/office/officeart/2005/8/layout/list1"/>
    <dgm:cxn modelId="{8D46FF43-79F5-46D8-BB36-56A159C736C2}" type="presOf" srcId="{4494A053-A01F-49B3-A840-67BEA28E1D11}" destId="{0EB9E247-276A-45C8-9A72-B512D32092EC}" srcOrd="0" destOrd="0" presId="urn:microsoft.com/office/officeart/2005/8/layout/list1"/>
    <dgm:cxn modelId="{9A03EB46-136A-442F-83EE-68E4CD59632B}" srcId="{F918C549-EC9D-41FA-B28C-F74D1D408E36}" destId="{4494A053-A01F-49B3-A840-67BEA28E1D11}" srcOrd="0" destOrd="0" parTransId="{CEC62A9C-706F-4006-917A-107B1E9458EC}" sibTransId="{44C74002-39FC-41BE-94CC-3C4A7EEEB44A}"/>
    <dgm:cxn modelId="{1428C475-CE49-43FE-9577-AE042BD2D9D2}" type="presOf" srcId="{4494A053-A01F-49B3-A840-67BEA28E1D11}" destId="{8D59C2E2-CB8B-4211-A9DB-9D9A1612E32B}" srcOrd="1" destOrd="0" presId="urn:microsoft.com/office/officeart/2005/8/layout/list1"/>
    <dgm:cxn modelId="{A62AB1A6-46BD-42E6-80C2-E80AD00093B1}" type="presOf" srcId="{F918C549-EC9D-41FA-B28C-F74D1D408E36}" destId="{7ACAEB4D-BC93-4325-BC29-78216A346CB3}" srcOrd="0" destOrd="0" presId="urn:microsoft.com/office/officeart/2005/8/layout/list1"/>
    <dgm:cxn modelId="{CCFC70D0-F0E9-44F6-91B6-4A2AAAA9F323}" type="presOf" srcId="{AE4F9183-5D76-4C75-B4FC-7613BD7270D8}" destId="{C05CC03D-1AE5-4F85-8EB9-E14E8662A16E}" srcOrd="1" destOrd="0" presId="urn:microsoft.com/office/officeart/2005/8/layout/list1"/>
    <dgm:cxn modelId="{E6111FF2-DF70-4C16-A9DD-AB4F26C062B0}" srcId="{F918C549-EC9D-41FA-B28C-F74D1D408E36}" destId="{AE4F9183-5D76-4C75-B4FC-7613BD7270D8}" srcOrd="1" destOrd="0" parTransId="{42CE1B43-1CE3-4836-8A2E-6F1C49C192C2}" sibTransId="{6953C630-845C-4A2F-9DE1-FB6FA0293BBD}"/>
    <dgm:cxn modelId="{3ACE84CC-0904-49F3-BAF8-FEB51E5D05D8}" type="presParOf" srcId="{7ACAEB4D-BC93-4325-BC29-78216A346CB3}" destId="{93C7B786-A511-4D86-AC7B-86E6AA90CB1D}" srcOrd="0" destOrd="0" presId="urn:microsoft.com/office/officeart/2005/8/layout/list1"/>
    <dgm:cxn modelId="{EAC20933-E582-48D1-942B-BCECD997DEBB}" type="presParOf" srcId="{93C7B786-A511-4D86-AC7B-86E6AA90CB1D}" destId="{0EB9E247-276A-45C8-9A72-B512D32092EC}" srcOrd="0" destOrd="0" presId="urn:microsoft.com/office/officeart/2005/8/layout/list1"/>
    <dgm:cxn modelId="{CC733CF2-006C-4DC9-99B8-849CCA20400A}" type="presParOf" srcId="{93C7B786-A511-4D86-AC7B-86E6AA90CB1D}" destId="{8D59C2E2-CB8B-4211-A9DB-9D9A1612E32B}" srcOrd="1" destOrd="0" presId="urn:microsoft.com/office/officeart/2005/8/layout/list1"/>
    <dgm:cxn modelId="{4F5C505A-459A-4FB9-8FB4-35C672DD181C}" type="presParOf" srcId="{7ACAEB4D-BC93-4325-BC29-78216A346CB3}" destId="{9585CFEE-DB4B-4A89-BFDD-06A5311618BC}" srcOrd="1" destOrd="0" presId="urn:microsoft.com/office/officeart/2005/8/layout/list1"/>
    <dgm:cxn modelId="{169B76AD-5A09-4136-88A2-2C341AC552C4}" type="presParOf" srcId="{7ACAEB4D-BC93-4325-BC29-78216A346CB3}" destId="{78FA510A-EBB2-46F5-ACEB-AA2736F70CE4}" srcOrd="2" destOrd="0" presId="urn:microsoft.com/office/officeart/2005/8/layout/list1"/>
    <dgm:cxn modelId="{1E8CD9EE-BD44-4F3D-A1A2-54B5C90C3917}" type="presParOf" srcId="{7ACAEB4D-BC93-4325-BC29-78216A346CB3}" destId="{8C111F67-A892-4EBE-AA52-E7343CE14B9B}" srcOrd="3" destOrd="0" presId="urn:microsoft.com/office/officeart/2005/8/layout/list1"/>
    <dgm:cxn modelId="{A0F7EDC7-2C97-47D1-B9EF-434068F15313}" type="presParOf" srcId="{7ACAEB4D-BC93-4325-BC29-78216A346CB3}" destId="{1E119D81-151E-4253-AB88-5A9B19276AE2}" srcOrd="4" destOrd="0" presId="urn:microsoft.com/office/officeart/2005/8/layout/list1"/>
    <dgm:cxn modelId="{2C887FCF-9482-4746-BD5D-64093C630773}" type="presParOf" srcId="{1E119D81-151E-4253-AB88-5A9B19276AE2}" destId="{CB968A80-C736-44DD-B28A-F310D30F77D5}" srcOrd="0" destOrd="0" presId="urn:microsoft.com/office/officeart/2005/8/layout/list1"/>
    <dgm:cxn modelId="{51B66E61-DDC1-4C68-ACB6-4BBA1FCC4097}" type="presParOf" srcId="{1E119D81-151E-4253-AB88-5A9B19276AE2}" destId="{C05CC03D-1AE5-4F85-8EB9-E14E8662A16E}" srcOrd="1" destOrd="0" presId="urn:microsoft.com/office/officeart/2005/8/layout/list1"/>
    <dgm:cxn modelId="{718D2590-C8EB-400F-B7F5-9B188BA21E3A}" type="presParOf" srcId="{7ACAEB4D-BC93-4325-BC29-78216A346CB3}" destId="{7E757926-0682-4D16-AAAE-2E30BF550139}" srcOrd="5" destOrd="0" presId="urn:microsoft.com/office/officeart/2005/8/layout/list1"/>
    <dgm:cxn modelId="{E690E8F9-6D60-4D91-B76C-DE9FDBA7B869}" type="presParOf" srcId="{7ACAEB4D-BC93-4325-BC29-78216A346CB3}" destId="{012887DB-7282-4A6B-BF98-AD47C71C71D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18C549-EC9D-41FA-B28C-F74D1D408E36}" type="doc">
      <dgm:prSet loTypeId="urn:microsoft.com/office/officeart/2005/8/layout/list1" loCatId="list" qsTypeId="urn:microsoft.com/office/officeart/2005/8/quickstyle/simple1#6" qsCatId="simple" csTypeId="urn:microsoft.com/office/officeart/2005/8/colors/accent2_2#2" csCatId="accent2" phldr="1"/>
      <dgm:spPr/>
      <dgm:t>
        <a:bodyPr/>
        <a:lstStyle/>
        <a:p>
          <a:endParaRPr lang="en-IN"/>
        </a:p>
      </dgm:t>
    </dgm:pt>
    <dgm:pt modelId="{AE4F9183-5D76-4C75-B4FC-7613BD7270D8}">
      <dgm:prSet phldrT="[Text]" custT="1"/>
      <dgm:spPr/>
      <dgm:t>
        <a:bodyPr/>
        <a:lstStyle/>
        <a:p>
          <a:r>
            <a:rPr lang="en-US" sz="1700" dirty="0">
              <a:latin typeface="Arial" panose="020B0604020202020204" pitchFamily="34" charset="0"/>
              <a:cs typeface="Arial" panose="020B0604020202020204" pitchFamily="34" charset="0"/>
            </a:rPr>
            <a:t>Engagement through user experience:</a:t>
          </a:r>
          <a:endParaRPr lang="en-IN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CE1B43-1CE3-4836-8A2E-6F1C49C192C2}" type="parTrans" cxnId="{E6111FF2-DF70-4C16-A9DD-AB4F26C062B0}">
      <dgm:prSet/>
      <dgm:spPr/>
      <dgm:t>
        <a:bodyPr/>
        <a:lstStyle/>
        <a:p>
          <a:endParaRPr lang="en-IN"/>
        </a:p>
      </dgm:t>
    </dgm:pt>
    <dgm:pt modelId="{6953C630-845C-4A2F-9DE1-FB6FA0293BBD}" type="sibTrans" cxnId="{E6111FF2-DF70-4C16-A9DD-AB4F26C062B0}">
      <dgm:prSet/>
      <dgm:spPr/>
      <dgm:t>
        <a:bodyPr/>
        <a:lstStyle/>
        <a:p>
          <a:endParaRPr lang="en-IN"/>
        </a:p>
      </dgm:t>
    </dgm:pt>
    <dgm:pt modelId="{B290767A-9E65-4BAB-885C-AEBB1B11C81E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Digital preservation: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04ECC1-329F-4187-86C2-DC49FC7D545C}" type="parTrans" cxnId="{64A96E34-409D-4635-9604-0C8E4253F7B8}">
      <dgm:prSet/>
      <dgm:spPr/>
      <dgm:t>
        <a:bodyPr/>
        <a:lstStyle/>
        <a:p>
          <a:endParaRPr lang="en-IN"/>
        </a:p>
      </dgm:t>
    </dgm:pt>
    <dgm:pt modelId="{3254C656-8FF8-4127-87A9-0C9C17D5108E}" type="sibTrans" cxnId="{64A96E34-409D-4635-9604-0C8E4253F7B8}">
      <dgm:prSet/>
      <dgm:spPr/>
      <dgm:t>
        <a:bodyPr/>
        <a:lstStyle/>
        <a:p>
          <a:endParaRPr lang="en-IN"/>
        </a:p>
      </dgm:t>
    </dgm:pt>
    <dgm:pt modelId="{7ACAEB4D-BC93-4325-BC29-78216A346CB3}" type="pres">
      <dgm:prSet presAssocID="{F918C549-EC9D-41FA-B28C-F74D1D408E36}" presName="linear" presStyleCnt="0">
        <dgm:presLayoutVars>
          <dgm:dir/>
          <dgm:animLvl val="lvl"/>
          <dgm:resizeHandles val="exact"/>
        </dgm:presLayoutVars>
      </dgm:prSet>
      <dgm:spPr/>
    </dgm:pt>
    <dgm:pt modelId="{1E119D81-151E-4253-AB88-5A9B19276AE2}" type="pres">
      <dgm:prSet presAssocID="{AE4F9183-5D76-4C75-B4FC-7613BD7270D8}" presName="parentLin" presStyleCnt="0"/>
      <dgm:spPr/>
    </dgm:pt>
    <dgm:pt modelId="{CB968A80-C736-44DD-B28A-F310D30F77D5}" type="pres">
      <dgm:prSet presAssocID="{AE4F9183-5D76-4C75-B4FC-7613BD7270D8}" presName="parentLeftMargin" presStyleLbl="node1" presStyleIdx="0" presStyleCnt="2" custScaleY="64824"/>
      <dgm:spPr/>
    </dgm:pt>
    <dgm:pt modelId="{C05CC03D-1AE5-4F85-8EB9-E14E8662A16E}" type="pres">
      <dgm:prSet presAssocID="{AE4F9183-5D76-4C75-B4FC-7613BD7270D8}" presName="parentText" presStyleLbl="node1" presStyleIdx="0" presStyleCnt="2" custScaleY="100551" custLinFactNeighborX="-29988" custLinFactNeighborY="-95773">
        <dgm:presLayoutVars>
          <dgm:chMax val="0"/>
          <dgm:bulletEnabled val="1"/>
        </dgm:presLayoutVars>
      </dgm:prSet>
      <dgm:spPr/>
    </dgm:pt>
    <dgm:pt modelId="{7E757926-0682-4D16-AAAE-2E30BF550139}" type="pres">
      <dgm:prSet presAssocID="{AE4F9183-5D76-4C75-B4FC-7613BD7270D8}" presName="negativeSpace" presStyleCnt="0"/>
      <dgm:spPr/>
    </dgm:pt>
    <dgm:pt modelId="{012887DB-7282-4A6B-BF98-AD47C71C71D7}" type="pres">
      <dgm:prSet presAssocID="{AE4F9183-5D76-4C75-B4FC-7613BD7270D8}" presName="childText" presStyleLbl="conFgAcc1" presStyleIdx="0" presStyleCnt="2" custScaleY="388874" custLinFactY="-11112" custLinFactNeighborX="426" custLinFactNeighborY="-100000">
        <dgm:presLayoutVars>
          <dgm:bulletEnabled val="1"/>
        </dgm:presLayoutVars>
      </dgm:prSet>
      <dgm:spPr/>
    </dgm:pt>
    <dgm:pt modelId="{EE5D1158-3E39-4BC5-8496-EFEEEFA026C7}" type="pres">
      <dgm:prSet presAssocID="{6953C630-845C-4A2F-9DE1-FB6FA0293BBD}" presName="spaceBetweenRectangles" presStyleCnt="0"/>
      <dgm:spPr/>
    </dgm:pt>
    <dgm:pt modelId="{3CEDD980-4CCE-4FE9-8AA7-AE9C1F1112BC}" type="pres">
      <dgm:prSet presAssocID="{B290767A-9E65-4BAB-885C-AEBB1B11C81E}" presName="parentLin" presStyleCnt="0"/>
      <dgm:spPr/>
    </dgm:pt>
    <dgm:pt modelId="{FAFDEC79-A373-4D2F-AAE5-0596C8C1AE8F}" type="pres">
      <dgm:prSet presAssocID="{B290767A-9E65-4BAB-885C-AEBB1B11C81E}" presName="parentLeftMargin" presStyleLbl="node1" presStyleIdx="0" presStyleCnt="2" custScaleY="100551"/>
      <dgm:spPr/>
    </dgm:pt>
    <dgm:pt modelId="{3F89AA7E-A4BA-4BEF-8C18-8B0F66CAE4E9}" type="pres">
      <dgm:prSet presAssocID="{B290767A-9E65-4BAB-885C-AEBB1B11C81E}" presName="parentText" presStyleLbl="node1" presStyleIdx="1" presStyleCnt="2" custLinFactNeighborX="-38239" custLinFactNeighborY="-17000">
        <dgm:presLayoutVars>
          <dgm:chMax val="0"/>
          <dgm:bulletEnabled val="1"/>
        </dgm:presLayoutVars>
      </dgm:prSet>
      <dgm:spPr/>
    </dgm:pt>
    <dgm:pt modelId="{E9735666-8B76-4943-AE51-D4B861C8BD76}" type="pres">
      <dgm:prSet presAssocID="{B290767A-9E65-4BAB-885C-AEBB1B11C81E}" presName="negativeSpace" presStyleCnt="0"/>
      <dgm:spPr/>
    </dgm:pt>
    <dgm:pt modelId="{9F113B71-1226-4110-9E67-269D89DFF5FD}" type="pres">
      <dgm:prSet presAssocID="{B290767A-9E65-4BAB-885C-AEBB1B11C81E}" presName="childText" presStyleLbl="conFgAcc1" presStyleIdx="1" presStyleCnt="2" custScaleY="256987" custLinFactNeighborX="-445" custLinFactNeighborY="-36242">
        <dgm:presLayoutVars>
          <dgm:bulletEnabled val="1"/>
        </dgm:presLayoutVars>
      </dgm:prSet>
      <dgm:spPr/>
    </dgm:pt>
  </dgm:ptLst>
  <dgm:cxnLst>
    <dgm:cxn modelId="{64A96E34-409D-4635-9604-0C8E4253F7B8}" srcId="{F918C549-EC9D-41FA-B28C-F74D1D408E36}" destId="{B290767A-9E65-4BAB-885C-AEBB1B11C81E}" srcOrd="1" destOrd="0" parTransId="{2304ECC1-329F-4187-86C2-DC49FC7D545C}" sibTransId="{3254C656-8FF8-4127-87A9-0C9C17D5108E}"/>
    <dgm:cxn modelId="{1614E863-F20F-461E-9695-1DB3C79B4EE0}" type="presOf" srcId="{AE4F9183-5D76-4C75-B4FC-7613BD7270D8}" destId="{CB968A80-C736-44DD-B28A-F310D30F77D5}" srcOrd="0" destOrd="0" presId="urn:microsoft.com/office/officeart/2005/8/layout/list1"/>
    <dgm:cxn modelId="{A62AB1A6-46BD-42E6-80C2-E80AD00093B1}" type="presOf" srcId="{F918C549-EC9D-41FA-B28C-F74D1D408E36}" destId="{7ACAEB4D-BC93-4325-BC29-78216A346CB3}" srcOrd="0" destOrd="0" presId="urn:microsoft.com/office/officeart/2005/8/layout/list1"/>
    <dgm:cxn modelId="{E2DD55B5-EA69-4485-BC04-8E78178CEE44}" type="presOf" srcId="{B290767A-9E65-4BAB-885C-AEBB1B11C81E}" destId="{3F89AA7E-A4BA-4BEF-8C18-8B0F66CAE4E9}" srcOrd="1" destOrd="0" presId="urn:microsoft.com/office/officeart/2005/8/layout/list1"/>
    <dgm:cxn modelId="{D4377AC3-462F-4F6B-8251-21A6959E3040}" type="presOf" srcId="{B290767A-9E65-4BAB-885C-AEBB1B11C81E}" destId="{FAFDEC79-A373-4D2F-AAE5-0596C8C1AE8F}" srcOrd="0" destOrd="0" presId="urn:microsoft.com/office/officeart/2005/8/layout/list1"/>
    <dgm:cxn modelId="{CCFC70D0-F0E9-44F6-91B6-4A2AAAA9F323}" type="presOf" srcId="{AE4F9183-5D76-4C75-B4FC-7613BD7270D8}" destId="{C05CC03D-1AE5-4F85-8EB9-E14E8662A16E}" srcOrd="1" destOrd="0" presId="urn:microsoft.com/office/officeart/2005/8/layout/list1"/>
    <dgm:cxn modelId="{E6111FF2-DF70-4C16-A9DD-AB4F26C062B0}" srcId="{F918C549-EC9D-41FA-B28C-F74D1D408E36}" destId="{AE4F9183-5D76-4C75-B4FC-7613BD7270D8}" srcOrd="0" destOrd="0" parTransId="{42CE1B43-1CE3-4836-8A2E-6F1C49C192C2}" sibTransId="{6953C630-845C-4A2F-9DE1-FB6FA0293BBD}"/>
    <dgm:cxn modelId="{A0F7EDC7-2C97-47D1-B9EF-434068F15313}" type="presParOf" srcId="{7ACAEB4D-BC93-4325-BC29-78216A346CB3}" destId="{1E119D81-151E-4253-AB88-5A9B19276AE2}" srcOrd="0" destOrd="0" presId="urn:microsoft.com/office/officeart/2005/8/layout/list1"/>
    <dgm:cxn modelId="{2C887FCF-9482-4746-BD5D-64093C630773}" type="presParOf" srcId="{1E119D81-151E-4253-AB88-5A9B19276AE2}" destId="{CB968A80-C736-44DD-B28A-F310D30F77D5}" srcOrd="0" destOrd="0" presId="urn:microsoft.com/office/officeart/2005/8/layout/list1"/>
    <dgm:cxn modelId="{51B66E61-DDC1-4C68-ACB6-4BBA1FCC4097}" type="presParOf" srcId="{1E119D81-151E-4253-AB88-5A9B19276AE2}" destId="{C05CC03D-1AE5-4F85-8EB9-E14E8662A16E}" srcOrd="1" destOrd="0" presId="urn:microsoft.com/office/officeart/2005/8/layout/list1"/>
    <dgm:cxn modelId="{718D2590-C8EB-400F-B7F5-9B188BA21E3A}" type="presParOf" srcId="{7ACAEB4D-BC93-4325-BC29-78216A346CB3}" destId="{7E757926-0682-4D16-AAAE-2E30BF550139}" srcOrd="1" destOrd="0" presId="urn:microsoft.com/office/officeart/2005/8/layout/list1"/>
    <dgm:cxn modelId="{E690E8F9-6D60-4D91-B76C-DE9FDBA7B869}" type="presParOf" srcId="{7ACAEB4D-BC93-4325-BC29-78216A346CB3}" destId="{012887DB-7282-4A6B-BF98-AD47C71C71D7}" srcOrd="2" destOrd="0" presId="urn:microsoft.com/office/officeart/2005/8/layout/list1"/>
    <dgm:cxn modelId="{8EEF03B8-80DD-4D1E-A692-BF2A5D07EA1E}" type="presParOf" srcId="{7ACAEB4D-BC93-4325-BC29-78216A346CB3}" destId="{EE5D1158-3E39-4BC5-8496-EFEEEFA026C7}" srcOrd="3" destOrd="0" presId="urn:microsoft.com/office/officeart/2005/8/layout/list1"/>
    <dgm:cxn modelId="{4FDCE91C-A34C-4A69-9600-2A229BF9EEAD}" type="presParOf" srcId="{7ACAEB4D-BC93-4325-BC29-78216A346CB3}" destId="{3CEDD980-4CCE-4FE9-8AA7-AE9C1F1112BC}" srcOrd="4" destOrd="0" presId="urn:microsoft.com/office/officeart/2005/8/layout/list1"/>
    <dgm:cxn modelId="{A2FF619E-4800-494D-89A6-CB639F9F40B6}" type="presParOf" srcId="{3CEDD980-4CCE-4FE9-8AA7-AE9C1F1112BC}" destId="{FAFDEC79-A373-4D2F-AAE5-0596C8C1AE8F}" srcOrd="0" destOrd="0" presId="urn:microsoft.com/office/officeart/2005/8/layout/list1"/>
    <dgm:cxn modelId="{431736F2-E7E2-4157-8163-4A0DC4C6348E}" type="presParOf" srcId="{3CEDD980-4CCE-4FE9-8AA7-AE9C1F1112BC}" destId="{3F89AA7E-A4BA-4BEF-8C18-8B0F66CAE4E9}" srcOrd="1" destOrd="0" presId="urn:microsoft.com/office/officeart/2005/8/layout/list1"/>
    <dgm:cxn modelId="{B3A04F92-F531-458D-A88B-98D2FEE945D1}" type="presParOf" srcId="{7ACAEB4D-BC93-4325-BC29-78216A346CB3}" destId="{E9735666-8B76-4943-AE51-D4B861C8BD76}" srcOrd="5" destOrd="0" presId="urn:microsoft.com/office/officeart/2005/8/layout/list1"/>
    <dgm:cxn modelId="{A6C21F45-4CD1-42E0-881B-9843931D6103}" type="presParOf" srcId="{7ACAEB4D-BC93-4325-BC29-78216A346CB3}" destId="{9F113B71-1226-4110-9E67-269D89DFF5F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A510A-EBB2-46F5-ACEB-AA2736F70CE4}">
      <dsp:nvSpPr>
        <dsp:cNvPr id="0" name=""/>
        <dsp:cNvSpPr/>
      </dsp:nvSpPr>
      <dsp:spPr>
        <a:xfrm>
          <a:off x="0" y="176535"/>
          <a:ext cx="5516416" cy="16585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9C2E2-CB8B-4211-A9DB-9D9A1612E32B}">
      <dsp:nvSpPr>
        <dsp:cNvPr id="0" name=""/>
        <dsp:cNvSpPr/>
      </dsp:nvSpPr>
      <dsp:spPr>
        <a:xfrm>
          <a:off x="275820" y="10946"/>
          <a:ext cx="3861491" cy="4607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Education:</a:t>
          </a:r>
          <a:endParaRPr lang="en-IN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8314" y="33440"/>
        <a:ext cx="3816503" cy="415801"/>
      </dsp:txXfrm>
    </dsp:sp>
    <dsp:sp modelId="{012887DB-7282-4A6B-BF98-AD47C71C71D7}">
      <dsp:nvSpPr>
        <dsp:cNvPr id="0" name=""/>
        <dsp:cNvSpPr/>
      </dsp:nvSpPr>
      <dsp:spPr>
        <a:xfrm>
          <a:off x="0" y="2178653"/>
          <a:ext cx="5516416" cy="120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CC03D-1AE5-4F85-8EB9-E14E8662A16E}">
      <dsp:nvSpPr>
        <dsp:cNvPr id="0" name=""/>
        <dsp:cNvSpPr/>
      </dsp:nvSpPr>
      <dsp:spPr>
        <a:xfrm>
          <a:off x="275820" y="1943048"/>
          <a:ext cx="3861491" cy="5308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Spatial and analytical thinking:</a:t>
          </a:r>
          <a:endParaRPr lang="en-IN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1732" y="1968960"/>
        <a:ext cx="3809667" cy="4789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887DB-7282-4A6B-BF98-AD47C71C71D7}">
      <dsp:nvSpPr>
        <dsp:cNvPr id="0" name=""/>
        <dsp:cNvSpPr/>
      </dsp:nvSpPr>
      <dsp:spPr>
        <a:xfrm>
          <a:off x="0" y="183488"/>
          <a:ext cx="5516416" cy="166593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CC03D-1AE5-4F85-8EB9-E14E8662A16E}">
      <dsp:nvSpPr>
        <dsp:cNvPr id="0" name=""/>
        <dsp:cNvSpPr/>
      </dsp:nvSpPr>
      <dsp:spPr>
        <a:xfrm>
          <a:off x="193107" y="0"/>
          <a:ext cx="3861491" cy="5046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Engagement through user experience:</a:t>
          </a:r>
          <a:endParaRPr lang="en-IN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740" y="24633"/>
        <a:ext cx="3812225" cy="455339"/>
      </dsp:txXfrm>
    </dsp:sp>
    <dsp:sp modelId="{9F113B71-1226-4110-9E67-269D89DFF5FD}">
      <dsp:nvSpPr>
        <dsp:cNvPr id="0" name=""/>
        <dsp:cNvSpPr/>
      </dsp:nvSpPr>
      <dsp:spPr>
        <a:xfrm>
          <a:off x="0" y="2240610"/>
          <a:ext cx="5516416" cy="11009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9AA7E-A4BA-4BEF-8C18-8B0F66CAE4E9}">
      <dsp:nvSpPr>
        <dsp:cNvPr id="0" name=""/>
        <dsp:cNvSpPr/>
      </dsp:nvSpPr>
      <dsp:spPr>
        <a:xfrm>
          <a:off x="170349" y="1995316"/>
          <a:ext cx="3861491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Digital preservation:</a:t>
          </a:r>
          <a:endParaRPr lang="en-IN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4847" y="2019814"/>
        <a:ext cx="3812495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26F2-8D8C-421D-3827-36DCE78E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F8807453-3216-D4B1-CF30-68871E02C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13030713-0124-1944-45F9-ED99A15556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50884C4E-5731-8684-75B0-D47E63F9A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90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91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548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7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image" Target="../media/image13.png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sprs-archives.copernicus.org/articles/XLII-2-W9/9/2019/isprs-archives-XLII-2-W9-9-2019.pdf" TargetMode="External"/><Relationship Id="rId5" Type="http://schemas.openxmlformats.org/officeDocument/2006/relationships/hyperlink" Target="https://www.arkitera.com/haber/anadolu-selcuklu-kervansaraylari-steamde-silk-2-0-dijital-mirasi-oyun-dunyasina-tasiyor/" TargetMode="External"/><Relationship Id="rId4" Type="http://schemas.openxmlformats.org/officeDocument/2006/relationships/hyperlink" Target="https://www.researchgate.net/publication/410866287_Archival_Fragments_to_Immersive_Worlds_An_AI-assisted_Workflow_for_the_Digital_Reconstruction_of_Lost_Architectural_Herita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427" y="1178949"/>
            <a:ext cx="5924550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26208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 unique toys and games based on our civilization, history, and culture 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History Reimagined in XR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SIH26-A0H-T504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74F0-2973-0DFF-BB5A-DF782A71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B7DD8FCC-250C-4295-7412-6697618B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968" y="-335016"/>
            <a:ext cx="898469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LEGO of Indian heritage in XR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33259-73C2-DD82-94DB-98B7A7DD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1534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tx1"/>
                </a:solidFill>
              </a:rPr>
              <a:pPr/>
              <a:t>2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E5FA59CE-7F37-66DB-64B9-2427532064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26E168-DB6F-5852-A357-C52B0FC18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939F47F-8604-818D-F8DA-3493DD9A2CD0}"/>
              </a:ext>
            </a:extLst>
          </p:cNvPr>
          <p:cNvSpPr txBox="1"/>
          <p:nvPr/>
        </p:nvSpPr>
        <p:spPr>
          <a:xfrm>
            <a:off x="187813" y="4336776"/>
            <a:ext cx="1987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EXPLORE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0CB193-B61E-74D2-5D89-BE5A9F9389AB}"/>
              </a:ext>
            </a:extLst>
          </p:cNvPr>
          <p:cNvSpPr txBox="1"/>
          <p:nvPr/>
        </p:nvSpPr>
        <p:spPr>
          <a:xfrm>
            <a:off x="2253579" y="2670348"/>
            <a:ext cx="2291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E22988-D3AA-5586-429E-755478EA0D58}"/>
              </a:ext>
            </a:extLst>
          </p:cNvPr>
          <p:cNvSpPr txBox="1"/>
          <p:nvPr/>
        </p:nvSpPr>
        <p:spPr>
          <a:xfrm>
            <a:off x="4742714" y="4302174"/>
            <a:ext cx="2291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COLLECT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9EC168-1CA2-C572-8232-04EC7181DC35}"/>
              </a:ext>
            </a:extLst>
          </p:cNvPr>
          <p:cNvSpPr txBox="1"/>
          <p:nvPr/>
        </p:nvSpPr>
        <p:spPr>
          <a:xfrm>
            <a:off x="7335939" y="2656540"/>
            <a:ext cx="2291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AFD5E1-3D5A-5C93-3FEF-4D1E0CD71788}"/>
              </a:ext>
            </a:extLst>
          </p:cNvPr>
          <p:cNvSpPr txBox="1"/>
          <p:nvPr/>
        </p:nvSpPr>
        <p:spPr>
          <a:xfrm>
            <a:off x="9824086" y="4449710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050E2D-F3D5-A2AD-A333-E502A873F169}"/>
              </a:ext>
            </a:extLst>
          </p:cNvPr>
          <p:cNvSpPr txBox="1"/>
          <p:nvPr/>
        </p:nvSpPr>
        <p:spPr>
          <a:xfrm>
            <a:off x="187813" y="4639448"/>
            <a:ext cx="2076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Navigating civilizations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and historical timeline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CA871C-F4F2-014F-827E-66C50DE06F96}"/>
              </a:ext>
            </a:extLst>
          </p:cNvPr>
          <p:cNvSpPr txBox="1"/>
          <p:nvPr/>
        </p:nvSpPr>
        <p:spPr>
          <a:xfrm>
            <a:off x="4745557" y="4631391"/>
            <a:ext cx="2591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Collecting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digital library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and construction methodology of the civilization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7377C2-D76F-2DF4-F2C4-946B5D99F402}"/>
              </a:ext>
            </a:extLst>
          </p:cNvPr>
          <p:cNvSpPr txBox="1"/>
          <p:nvPr/>
        </p:nvSpPr>
        <p:spPr>
          <a:xfrm>
            <a:off x="7264009" y="2942977"/>
            <a:ext cx="2376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Rebuilding historical monuments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and cultural knowledge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3C6E52-85D0-FA8E-A008-A1F0EF7EC4FE}"/>
              </a:ext>
            </a:extLst>
          </p:cNvPr>
          <p:cNvSpPr txBox="1"/>
          <p:nvPr/>
        </p:nvSpPr>
        <p:spPr>
          <a:xfrm>
            <a:off x="2264097" y="2994921"/>
            <a:ext cx="2478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Exploring routes and traces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of the history as clues of the game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E7DC2E-2D1E-20A3-921C-1FA76EDF19A9}"/>
              </a:ext>
            </a:extLst>
          </p:cNvPr>
          <p:cNvSpPr txBox="1"/>
          <p:nvPr/>
        </p:nvSpPr>
        <p:spPr>
          <a:xfrm>
            <a:off x="9780086" y="4824183"/>
            <a:ext cx="2591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Unlocking the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experience of re- living ancient civilization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DB6B13E-9498-8AB8-1A72-011DB1FCD015}"/>
              </a:ext>
            </a:extLst>
          </p:cNvPr>
          <p:cNvSpPr/>
          <p:nvPr/>
        </p:nvSpPr>
        <p:spPr>
          <a:xfrm>
            <a:off x="122668" y="5833424"/>
            <a:ext cx="11836931" cy="48546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355F07-40E5-4D25-4309-B80C144FA3BB}"/>
              </a:ext>
            </a:extLst>
          </p:cNvPr>
          <p:cNvSpPr txBox="1"/>
          <p:nvPr/>
        </p:nvSpPr>
        <p:spPr>
          <a:xfrm>
            <a:off x="1054046" y="5911262"/>
            <a:ext cx="11362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Navigating civilizations , Exploring routes and traces , Digital library , Rebuilding historical monuments, experience of re- living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A9DB20-5B48-F166-8D79-8F5FE48040C5}"/>
              </a:ext>
            </a:extLst>
          </p:cNvPr>
          <p:cNvSpPr txBox="1"/>
          <p:nvPr/>
        </p:nvSpPr>
        <p:spPr>
          <a:xfrm>
            <a:off x="82752" y="1220686"/>
            <a:ext cx="1891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IDEA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99569C-CBF2-E2A4-E5D0-8E4213B9ECAB}"/>
              </a:ext>
            </a:extLst>
          </p:cNvPr>
          <p:cNvSpPr txBox="1"/>
          <p:nvPr/>
        </p:nvSpPr>
        <p:spPr>
          <a:xfrm>
            <a:off x="52260" y="5327828"/>
            <a:ext cx="3007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ADRESSING THE PROBLEM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E8EE41-B153-C911-A149-8C9EC13011CF}"/>
              </a:ext>
            </a:extLst>
          </p:cNvPr>
          <p:cNvSpPr txBox="1"/>
          <p:nvPr/>
        </p:nvSpPr>
        <p:spPr>
          <a:xfrm>
            <a:off x="52260" y="1554999"/>
            <a:ext cx="10717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Creating an immersive XR experience that allows users to step into historic civilizations, explore their culture, recreate lost spaces, and relive India’s architectural heritage through interactive gaming 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CB37A-718D-857B-A043-B01677903ED4}"/>
              </a:ext>
            </a:extLst>
          </p:cNvPr>
          <p:cNvSpPr txBox="1"/>
          <p:nvPr/>
        </p:nvSpPr>
        <p:spPr>
          <a:xfrm>
            <a:off x="52260" y="2174067"/>
            <a:ext cx="2367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 SOLUTION </a:t>
            </a:r>
          </a:p>
        </p:txBody>
      </p:sp>
      <p:pic>
        <p:nvPicPr>
          <p:cNvPr id="4" name="Picture 3" descr="Explore Icon Vector Art, Icons, and Graphics for Free Download">
            <a:extLst>
              <a:ext uri="{FF2B5EF4-FFF2-40B4-BE49-F238E27FC236}">
                <a16:creationId xmlns:a16="http://schemas.microsoft.com/office/drawing/2014/main" id="{B956D081-56BE-F67B-3F26-D3F7625396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94"/>
          <a:stretch>
            <a:fillRect/>
          </a:stretch>
        </p:blipFill>
        <p:spPr>
          <a:xfrm>
            <a:off x="-3417" y="2630936"/>
            <a:ext cx="1951140" cy="1660539"/>
          </a:xfrm>
          <a:prstGeom prst="rect">
            <a:avLst/>
          </a:prstGeom>
        </p:spPr>
      </p:pic>
      <p:pic>
        <p:nvPicPr>
          <p:cNvPr id="7" name="Picture 6" descr="Free Gateway Of India Icon - Download SVG, PNG for Monuments ...">
            <a:extLst>
              <a:ext uri="{FF2B5EF4-FFF2-40B4-BE49-F238E27FC236}">
                <a16:creationId xmlns:a16="http://schemas.microsoft.com/office/drawing/2014/main" id="{EA3BB33E-8214-3E81-8FFE-6C4F4BE2136F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7017461" y="2985658"/>
            <a:ext cx="2438400" cy="243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AB7C82-5A69-6D2F-8DCF-9A7B6A03F8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270" y="2453717"/>
            <a:ext cx="1733966" cy="17339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90682D-B84B-B7CB-5868-CEA34CF4204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692" b="8902"/>
          <a:stretch>
            <a:fillRect/>
          </a:stretch>
        </p:blipFill>
        <p:spPr>
          <a:xfrm>
            <a:off x="2349341" y="3552535"/>
            <a:ext cx="2009561" cy="1736374"/>
          </a:xfrm>
          <a:prstGeom prst="rect">
            <a:avLst/>
          </a:prstGeom>
        </p:spPr>
      </p:pic>
      <p:pic>
        <p:nvPicPr>
          <p:cNvPr id="19" name="Picture 18" descr="Vr - Free technology icons">
            <a:extLst>
              <a:ext uri="{FF2B5EF4-FFF2-40B4-BE49-F238E27FC236}">
                <a16:creationId xmlns:a16="http://schemas.microsoft.com/office/drawing/2014/main" id="{9008EC50-08F7-D0D0-08D4-2A2025865A79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39673" y="2476222"/>
            <a:ext cx="1733966" cy="17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2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tx1"/>
                </a:solidFill>
              </a:rPr>
              <a:pPr/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36A696-167A-73DC-927E-85DEB72A1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01" y="1823267"/>
            <a:ext cx="2599475" cy="1768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8B28EC-6761-F4B2-3F15-3F80B5A764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490" r="9574" b="17008"/>
          <a:stretch>
            <a:fillRect/>
          </a:stretch>
        </p:blipFill>
        <p:spPr>
          <a:xfrm>
            <a:off x="9388836" y="3823235"/>
            <a:ext cx="2193564" cy="1846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E58CE8-6843-4C1A-4C82-E7F25E1FC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410" y="4125173"/>
            <a:ext cx="1548550" cy="1548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8352C5-662E-E76E-65D9-5E3C51231D0E}"/>
              </a:ext>
            </a:extLst>
          </p:cNvPr>
          <p:cNvSpPr txBox="1"/>
          <p:nvPr/>
        </p:nvSpPr>
        <p:spPr>
          <a:xfrm>
            <a:off x="440368" y="3677930"/>
            <a:ext cx="26788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1 : HISTORICAL DATA MAPPING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Research and documentation of Indian civilizations through historical records, cultural narratives, monuments, ruins, and historical clues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through an AI enhanced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workflow.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2F862-0912-6962-74A6-6D7C825A5360}"/>
              </a:ext>
            </a:extLst>
          </p:cNvPr>
          <p:cNvSpPr txBox="1"/>
          <p:nvPr/>
        </p:nvSpPr>
        <p:spPr>
          <a:xfrm>
            <a:off x="3237822" y="1783749"/>
            <a:ext cx="2734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2 : 3D digital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prototyping of Indian civilization using SketchUp, developing monuments, ruins, artifacts, spatial clues, cultural elements and material representation.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E0DA5F-8677-9D8D-D292-39290D487220}"/>
              </a:ext>
            </a:extLst>
          </p:cNvPr>
          <p:cNvSpPr txBox="1"/>
          <p:nvPr/>
        </p:nvSpPr>
        <p:spPr>
          <a:xfrm>
            <a:off x="6250200" y="3939693"/>
            <a:ext cx="288478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3 : UNITY 3D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Digital prototyping of civilization in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Unity 3D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with optimized graphics, realistic lighting, high-quality visuals, and interactive elements for an immersive experience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08B478-1A56-2EE1-14A5-A2EED1FD395C}"/>
              </a:ext>
            </a:extLst>
          </p:cNvPr>
          <p:cNvSpPr txBox="1"/>
          <p:nvPr/>
        </p:nvSpPr>
        <p:spPr>
          <a:xfrm>
            <a:off x="9276401" y="1780180"/>
            <a:ext cx="2599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4 : IMMERSIVE EXPERIENCE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Prototype testing in an immersive environment for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Users experience using 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Oculus meta quest 3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91F5D38-17C0-AA17-B420-79C9BFA317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853" r="6509"/>
          <a:stretch>
            <a:fillRect/>
          </a:stretch>
        </p:blipFill>
        <p:spPr>
          <a:xfrm>
            <a:off x="532841" y="1736529"/>
            <a:ext cx="2261419" cy="171860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2B63AF-9C86-6B0F-27CA-82083BF72221}"/>
              </a:ext>
            </a:extLst>
          </p:cNvPr>
          <p:cNvSpPr/>
          <p:nvPr/>
        </p:nvSpPr>
        <p:spPr>
          <a:xfrm>
            <a:off x="3215956" y="1560037"/>
            <a:ext cx="2752109" cy="4655946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444AD-8C64-4C66-4DE9-A9CB1E4A5BA7}"/>
              </a:ext>
            </a:extLst>
          </p:cNvPr>
          <p:cNvSpPr/>
          <p:nvPr/>
        </p:nvSpPr>
        <p:spPr>
          <a:xfrm>
            <a:off x="6147085" y="1576529"/>
            <a:ext cx="2752109" cy="4655946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7CDC00-F9CB-EE07-A507-51BB7E180DFF}"/>
              </a:ext>
            </a:extLst>
          </p:cNvPr>
          <p:cNvSpPr/>
          <p:nvPr/>
        </p:nvSpPr>
        <p:spPr>
          <a:xfrm>
            <a:off x="9114754" y="1537232"/>
            <a:ext cx="2752109" cy="4695243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C0E9D1-906D-4D72-349D-B992AF79506C}"/>
              </a:ext>
            </a:extLst>
          </p:cNvPr>
          <p:cNvSpPr/>
          <p:nvPr/>
        </p:nvSpPr>
        <p:spPr>
          <a:xfrm>
            <a:off x="284827" y="1576529"/>
            <a:ext cx="2752109" cy="4639454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EDD7D693-4569-57CD-6F2C-217A733938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</p:spTree>
    <p:extLst>
      <p:ext uri="{BB962C8B-B14F-4D97-AF65-F5344CB8AC3E}">
        <p14:creationId xmlns:p14="http://schemas.microsoft.com/office/powerpoint/2010/main" val="189591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82496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96025"/>
            <a:ext cx="2249850" cy="106233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293660-3351-189A-90C1-AF2280A6D00F}"/>
              </a:ext>
            </a:extLst>
          </p:cNvPr>
          <p:cNvSpPr/>
          <p:nvPr/>
        </p:nvSpPr>
        <p:spPr>
          <a:xfrm>
            <a:off x="4120729" y="1123911"/>
            <a:ext cx="3476360" cy="533540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36475F-E7E1-43F2-722E-468A88D53CCF}"/>
              </a:ext>
            </a:extLst>
          </p:cNvPr>
          <p:cNvSpPr/>
          <p:nvPr/>
        </p:nvSpPr>
        <p:spPr>
          <a:xfrm>
            <a:off x="8437016" y="1137361"/>
            <a:ext cx="3586500" cy="532195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4314A-B930-3BFC-E196-723BCFB7E8CA}"/>
              </a:ext>
            </a:extLst>
          </p:cNvPr>
          <p:cNvSpPr txBox="1"/>
          <p:nvPr/>
        </p:nvSpPr>
        <p:spPr>
          <a:xfrm>
            <a:off x="4335411" y="1256685"/>
            <a:ext cx="347636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</a:rPr>
              <a:t>•</a:t>
            </a:r>
            <a:r>
              <a:rPr lang="en-IN" dirty="0"/>
              <a:t>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AND ECONOMY :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, software , and training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Expenses can be significant.</a:t>
            </a: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</a:rPr>
              <a:t>•</a:t>
            </a:r>
            <a:r>
              <a:rPr lang="en-IN" dirty="0"/>
              <a:t>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CONSTRAINTS: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 and AR headsets can have resolution , battery , and latency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Constraints.</a:t>
            </a: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</a:rPr>
              <a:t>•</a:t>
            </a:r>
            <a:r>
              <a:rPr lang="en-IN" dirty="0"/>
              <a:t>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 ACCURACY AND SOURCE REALIABILITY: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 information may vary across from sources , having an accurate information is 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challenging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B25570-E42E-CD8E-C04F-75D120439857}"/>
              </a:ext>
            </a:extLst>
          </p:cNvPr>
          <p:cNvSpPr txBox="1"/>
          <p:nvPr/>
        </p:nvSpPr>
        <p:spPr>
          <a:xfrm>
            <a:off x="8567309" y="1240855"/>
            <a:ext cx="350682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</a:p>
          <a:p>
            <a:endParaRPr lang="en-IN" sz="1600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 – based VR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with   a centralized experiential centre for cost – efficient scalability. </a:t>
            </a:r>
          </a:p>
          <a:p>
            <a:endParaRPr lang="en-IN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  <a:p>
            <a:endParaRPr lang="en-IN" b="1" dirty="0"/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239A7-2E66-4BF5-CDA3-829455348A52}"/>
              </a:ext>
            </a:extLst>
          </p:cNvPr>
          <p:cNvSpPr txBox="1"/>
          <p:nvPr/>
        </p:nvSpPr>
        <p:spPr>
          <a:xfrm>
            <a:off x="8524771" y="3073125"/>
            <a:ext cx="3618298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configuration can be 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provided stand alone  PC 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version, PC- based VR version  and 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stand alone on VR</a:t>
            </a: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 data will be validated 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through authoritative records 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and scholarly research.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672D304-41D7-06F5-CBB6-8DC28B070DCF}"/>
              </a:ext>
            </a:extLst>
          </p:cNvPr>
          <p:cNvSpPr/>
          <p:nvPr/>
        </p:nvSpPr>
        <p:spPr>
          <a:xfrm>
            <a:off x="168484" y="1682674"/>
            <a:ext cx="3186547" cy="22002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•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ARCHITECTURAL:</a:t>
            </a:r>
          </a:p>
          <a:p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prototype can be initially 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with limited data set and can be progressively scaled to include more civilizations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E10CF6-4A85-C05C-50A6-555F9A2C1BA2}"/>
              </a:ext>
            </a:extLst>
          </p:cNvPr>
          <p:cNvSpPr/>
          <p:nvPr/>
        </p:nvSpPr>
        <p:spPr>
          <a:xfrm>
            <a:off x="185351" y="4201806"/>
            <a:ext cx="3186547" cy="227765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•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Technically and Operationally feasible because of the use of existing VR game development technology</a:t>
            </a:r>
          </a:p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E63B2C-5496-A07C-CD48-B0BC62FA853A}"/>
              </a:ext>
            </a:extLst>
          </p:cNvPr>
          <p:cNvSpPr/>
          <p:nvPr/>
        </p:nvSpPr>
        <p:spPr>
          <a:xfrm>
            <a:off x="329772" y="1214722"/>
            <a:ext cx="2580575" cy="25516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FEASIBILITY:</a:t>
            </a:r>
          </a:p>
        </p:txBody>
      </p:sp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BFF9C368-1FCD-896F-07FC-65901AB7F5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0022499-7CB9-44C4-945E-C0129E8FCF21}"/>
              </a:ext>
            </a:extLst>
          </p:cNvPr>
          <p:cNvGraphicFramePr/>
          <p:nvPr/>
        </p:nvGraphicFramePr>
        <p:xfrm>
          <a:off x="329773" y="1063838"/>
          <a:ext cx="5516416" cy="3393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174D68-6CA0-4395-8D1D-7358F8FA78D5}"/>
              </a:ext>
            </a:extLst>
          </p:cNvPr>
          <p:cNvSpPr txBox="1"/>
          <p:nvPr/>
        </p:nvSpPr>
        <p:spPr>
          <a:xfrm>
            <a:off x="342472" y="1583590"/>
            <a:ext cx="551641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Connects the past and present through an immersive heritage experience, where players explore, discover and reconstruct lost structures—transforming learning from passive “read → memorize → forget” into active “explore → discover → understand.”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B1D153-4A95-46DE-9C20-E1EAFC11772A}"/>
              </a:ext>
            </a:extLst>
          </p:cNvPr>
          <p:cNvSpPr txBox="1"/>
          <p:nvPr/>
        </p:nvSpPr>
        <p:spPr>
          <a:xfrm>
            <a:off x="379725" y="3549133"/>
            <a:ext cx="551641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Players explore structures, connect clues, and understand how climate, materials, culture, and lifestyle shaped architecture while reconstructing the past.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71C8203D-3B63-4E28-A73F-0F5141E902EC}"/>
              </a:ext>
            </a:extLst>
          </p:cNvPr>
          <p:cNvGraphicFramePr/>
          <p:nvPr/>
        </p:nvGraphicFramePr>
        <p:xfrm>
          <a:off x="6320415" y="1066800"/>
          <a:ext cx="5516416" cy="3501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C72EDDF-ADA0-4856-B072-337F168305E0}"/>
              </a:ext>
            </a:extLst>
          </p:cNvPr>
          <p:cNvSpPr txBox="1"/>
          <p:nvPr/>
        </p:nvSpPr>
        <p:spPr>
          <a:xfrm>
            <a:off x="6490765" y="1583590"/>
            <a:ext cx="51757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Players explore their surroundings, uncover hidden artifacts, and follow clues that spark curiosity about the past. Through discovery and decision-making, they become active explorers and develop a deeper connection with heritage.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4978183-5240-4B96-0B81-78B7B3B80A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893E-AD64-4EA4-AFD6-2C8A8A9A1944}"/>
              </a:ext>
            </a:extLst>
          </p:cNvPr>
          <p:cNvSpPr txBox="1"/>
          <p:nvPr/>
        </p:nvSpPr>
        <p:spPr>
          <a:xfrm>
            <a:off x="6370366" y="3561250"/>
            <a:ext cx="517571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The game digitally documents and reconstructs lost or damaged heritage, creating an immersive way to preserve architectural and cultural knowledge for future generations.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6F394-C1E9-44E7-99C4-97A8D1CCB4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508" y="4854374"/>
            <a:ext cx="714790" cy="714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EADCB7-B299-4183-9F4C-E580391E6DA1}"/>
              </a:ext>
            </a:extLst>
          </p:cNvPr>
          <p:cNvSpPr txBox="1"/>
          <p:nvPr/>
        </p:nvSpPr>
        <p:spPr>
          <a:xfrm>
            <a:off x="168652" y="4495028"/>
            <a:ext cx="2454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TARGET AUDIENCE: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29E299-2835-4334-8600-8A8A733733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6130" y="4673792"/>
            <a:ext cx="844369" cy="844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805D08-A513-4106-9E8F-CF21BA65DF6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9" y="4647160"/>
            <a:ext cx="864480" cy="864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05A511-290F-44F7-B041-5C9BCA8A9CD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54132" y="4486673"/>
            <a:ext cx="1148077" cy="11480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4CAEF3-BDB8-4E82-9832-D6A7C30AFF05}"/>
              </a:ext>
            </a:extLst>
          </p:cNvPr>
          <p:cNvSpPr txBox="1"/>
          <p:nvPr/>
        </p:nvSpPr>
        <p:spPr>
          <a:xfrm>
            <a:off x="45854" y="5569163"/>
            <a:ext cx="26231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Students &amp; young learners</a:t>
            </a:r>
            <a:r>
              <a:rPr lang="en-US" dirty="0"/>
              <a:t>:</a:t>
            </a:r>
          </a:p>
          <a:p>
            <a:r>
              <a:rPr lang="en-US" sz="1600" dirty="0"/>
              <a:t>Builds historical knowledge, curiosity, problem-solving, and active learning.</a:t>
            </a:r>
            <a:endParaRPr lang="en-IN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B5D100-8D5A-4B30-A210-0D4759EF70DB}"/>
              </a:ext>
            </a:extLst>
          </p:cNvPr>
          <p:cNvSpPr txBox="1"/>
          <p:nvPr/>
        </p:nvSpPr>
        <p:spPr>
          <a:xfrm>
            <a:off x="2749178" y="5569164"/>
            <a:ext cx="29531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/>
              <a:t>Architecture Students</a:t>
            </a:r>
            <a:r>
              <a:rPr lang="en-US" sz="1600" dirty="0"/>
              <a:t>:</a:t>
            </a:r>
          </a:p>
          <a:p>
            <a:r>
              <a:rPr lang="en-US" sz="1600" dirty="0"/>
              <a:t>Develops spatial understanding, architectural analysis, and knowledge of traditional building practices.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915637-45AC-4D75-84D0-DF3BFAAF1C5E}"/>
              </a:ext>
            </a:extLst>
          </p:cNvPr>
          <p:cNvSpPr txBox="1"/>
          <p:nvPr/>
        </p:nvSpPr>
        <p:spPr>
          <a:xfrm>
            <a:off x="5743389" y="5569163"/>
            <a:ext cx="29531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/>
              <a:t>Travellers &amp; Tourists</a:t>
            </a:r>
            <a:r>
              <a:rPr lang="en-US" sz="1600" dirty="0"/>
              <a:t>:</a:t>
            </a:r>
          </a:p>
          <a:p>
            <a:r>
              <a:rPr lang="en-US" sz="1600" dirty="0"/>
              <a:t>Helps users learn about heritage sites before or during visits, making travel more meaningful and informative.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8370A8-9231-4866-9E46-1A2F9570FE8B}"/>
              </a:ext>
            </a:extLst>
          </p:cNvPr>
          <p:cNvSpPr txBox="1"/>
          <p:nvPr/>
        </p:nvSpPr>
        <p:spPr>
          <a:xfrm>
            <a:off x="8737600" y="5511639"/>
            <a:ext cx="29531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/>
              <a:t>General public</a:t>
            </a:r>
            <a:r>
              <a:rPr lang="en-US" sz="1600" dirty="0"/>
              <a:t>:</a:t>
            </a:r>
          </a:p>
          <a:p>
            <a:r>
              <a:rPr lang="en-US" sz="1600" dirty="0"/>
              <a:t>Makes history and heritage more accessible through immersive exploration, discovery, and storytelling.</a:t>
            </a:r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236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8707" y="1363364"/>
            <a:ext cx="93853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HISTORY &amp; CULTURAL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A67E4F-DE48-E982-0533-680018E983A7}"/>
              </a:ext>
            </a:extLst>
          </p:cNvPr>
          <p:cNvSpPr txBox="1"/>
          <p:nvPr/>
        </p:nvSpPr>
        <p:spPr>
          <a:xfrm>
            <a:off x="437134" y="1706175"/>
            <a:ext cx="188718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Agkathidis, A.,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Varinlioglu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, G. and Sopher, H., 2026. Archival Fragments to Immersive Worlds: An AI Workflow for the Digital Reconstruction of Lost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Architectural Heritage. Informed creativity and fabrication in architecture and engineering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hlinkClick r:id="rId4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https://whc.unesco.org/en/statesparties/in/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hlinkClick r:id="rId4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https://historicvr.com/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hlinkClick r:id="rId4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https://asi.nic.in/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9DA9935-62C8-5B06-2804-FDD1E2866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07" y="3698601"/>
            <a:ext cx="93853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ARCHITECTURE &amp; XR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584CC-6A64-918E-7F17-5B6536E1958D}"/>
              </a:ext>
            </a:extLst>
          </p:cNvPr>
          <p:cNvSpPr txBox="1"/>
          <p:nvPr/>
        </p:nvSpPr>
        <p:spPr>
          <a:xfrm>
            <a:off x="437006" y="4037155"/>
            <a:ext cx="113179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https://www.arkitera.com/haber/anadolu-selcuklu-kervansaraylari-steamde-silk-2-0-dijital-mirasi-oyun-dunyasina-tasiyor/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Agnello, F., Avella, F. and Agnello, S., 2019. Virtual reality for historical architecture. The International Archives of the Photogrammetry, Remote Sensing and Spatial Information Sciences, 42, pp.9-16.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C8971BBE-205E-CCF8-20E3-27731C6E4C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</p:spTree>
    <p:extLst>
      <p:ext uri="{BB962C8B-B14F-4D97-AF65-F5344CB8AC3E}">
        <p14:creationId xmlns:p14="http://schemas.microsoft.com/office/powerpoint/2010/main" val="2423741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7936</TotalTime>
  <Words>792</Words>
  <Application>Microsoft Office PowerPoint</Application>
  <PresentationFormat>Widescreen</PresentationFormat>
  <Paragraphs>120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LEGO of Indian heritage in XR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nethra.shree97@gmail.com</cp:lastModifiedBy>
  <cp:revision>156</cp:revision>
  <dcterms:created xsi:type="dcterms:W3CDTF">2013-12-12T18:46:50Z</dcterms:created>
  <dcterms:modified xsi:type="dcterms:W3CDTF">2026-09-04T06:56:14Z</dcterms:modified>
  <cp:category/>
</cp:coreProperties>
</file>