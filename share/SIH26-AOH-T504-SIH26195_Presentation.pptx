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302" r:id="rId3"/>
    <p:sldId id="300" r:id="rId4"/>
    <p:sldId id="293" r:id="rId5"/>
    <p:sldId id="299" r:id="rId6"/>
    <p:sldId id="301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751"/>
    <a:srgbClr val="010000"/>
    <a:srgbClr val="9BBB59"/>
    <a:srgbClr val="39B0D4"/>
    <a:srgbClr val="727272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11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6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6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18C549-EC9D-41FA-B28C-F74D1D408E36}" type="doc">
      <dgm:prSet loTypeId="urn:microsoft.com/office/officeart/2005/8/layout/list1" loCatId="list" qsTypeId="urn:microsoft.com/office/officeart/2005/8/quickstyle/simple1#6" qsCatId="simple" csTypeId="urn:microsoft.com/office/officeart/2005/8/colors/accent1_2#6" csCatId="accent1" phldr="1"/>
      <dgm:spPr/>
      <dgm:t>
        <a:bodyPr/>
        <a:lstStyle/>
        <a:p>
          <a:endParaRPr lang="en-IN"/>
        </a:p>
      </dgm:t>
    </dgm:pt>
    <dgm:pt modelId="{AE4F9183-5D76-4C75-B4FC-7613BD7270D8}">
      <dgm:prSet phldrT="[Text]" custT="1"/>
      <dgm:spPr/>
      <dgm:t>
        <a:bodyPr/>
        <a:lstStyle/>
        <a:p>
          <a:r>
            <a:rPr lang="en-US" sz="1700" dirty="0">
              <a:latin typeface="Arial" panose="020B0604020202020204" pitchFamily="34" charset="0"/>
              <a:cs typeface="Arial" panose="020B0604020202020204" pitchFamily="34" charset="0"/>
            </a:rPr>
            <a:t>Circular &amp; Environmental Impact:</a:t>
          </a:r>
          <a:endParaRPr lang="en-IN" sz="17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2CE1B43-1CE3-4836-8A2E-6F1C49C192C2}" type="parTrans" cxnId="{E6111FF2-DF70-4C16-A9DD-AB4F26C062B0}">
      <dgm:prSet/>
      <dgm:spPr/>
      <dgm:t>
        <a:bodyPr/>
        <a:lstStyle/>
        <a:p>
          <a:endParaRPr lang="en-IN"/>
        </a:p>
      </dgm:t>
    </dgm:pt>
    <dgm:pt modelId="{6953C630-845C-4A2F-9DE1-FB6FA0293BBD}" type="sibTrans" cxnId="{E6111FF2-DF70-4C16-A9DD-AB4F26C062B0}">
      <dgm:prSet/>
      <dgm:spPr/>
      <dgm:t>
        <a:bodyPr/>
        <a:lstStyle/>
        <a:p>
          <a:endParaRPr lang="en-IN"/>
        </a:p>
      </dgm:t>
    </dgm:pt>
    <dgm:pt modelId="{B290767A-9E65-4BAB-885C-AEBB1B11C81E}">
      <dgm:prSet phldrT="[Text]"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Digital &amp; Data Impact:</a:t>
          </a:r>
          <a:endParaRPr lang="en-IN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304ECC1-329F-4187-86C2-DC49FC7D545C}" type="parTrans" cxnId="{64A96E34-409D-4635-9604-0C8E4253F7B8}">
      <dgm:prSet/>
      <dgm:spPr/>
      <dgm:t>
        <a:bodyPr/>
        <a:lstStyle/>
        <a:p>
          <a:endParaRPr lang="en-IN"/>
        </a:p>
      </dgm:t>
    </dgm:pt>
    <dgm:pt modelId="{3254C656-8FF8-4127-87A9-0C9C17D5108E}" type="sibTrans" cxnId="{64A96E34-409D-4635-9604-0C8E4253F7B8}">
      <dgm:prSet/>
      <dgm:spPr/>
      <dgm:t>
        <a:bodyPr/>
        <a:lstStyle/>
        <a:p>
          <a:endParaRPr lang="en-IN"/>
        </a:p>
      </dgm:t>
    </dgm:pt>
    <dgm:pt modelId="{7ACAEB4D-BC93-4325-BC29-78216A346CB3}" type="pres">
      <dgm:prSet presAssocID="{F918C549-EC9D-41FA-B28C-F74D1D408E36}" presName="linear" presStyleCnt="0">
        <dgm:presLayoutVars>
          <dgm:dir/>
          <dgm:animLvl val="lvl"/>
          <dgm:resizeHandles val="exact"/>
        </dgm:presLayoutVars>
      </dgm:prSet>
      <dgm:spPr/>
    </dgm:pt>
    <dgm:pt modelId="{1E119D81-151E-4253-AB88-5A9B19276AE2}" type="pres">
      <dgm:prSet presAssocID="{AE4F9183-5D76-4C75-B4FC-7613BD7270D8}" presName="parentLin" presStyleCnt="0"/>
      <dgm:spPr/>
    </dgm:pt>
    <dgm:pt modelId="{CB968A80-C736-44DD-B28A-F310D30F77D5}" type="pres">
      <dgm:prSet presAssocID="{AE4F9183-5D76-4C75-B4FC-7613BD7270D8}" presName="parentLeftMargin" presStyleLbl="node1" presStyleIdx="0" presStyleCnt="2" custScaleY="64824"/>
      <dgm:spPr/>
    </dgm:pt>
    <dgm:pt modelId="{C05CC03D-1AE5-4F85-8EB9-E14E8662A16E}" type="pres">
      <dgm:prSet presAssocID="{AE4F9183-5D76-4C75-B4FC-7613BD7270D8}" presName="parentText" presStyleLbl="node1" presStyleIdx="0" presStyleCnt="2" custScaleY="100551" custLinFactNeighborX="-29988" custLinFactNeighborY="-95773">
        <dgm:presLayoutVars>
          <dgm:chMax val="0"/>
          <dgm:bulletEnabled val="1"/>
        </dgm:presLayoutVars>
      </dgm:prSet>
      <dgm:spPr/>
    </dgm:pt>
    <dgm:pt modelId="{7E757926-0682-4D16-AAAE-2E30BF550139}" type="pres">
      <dgm:prSet presAssocID="{AE4F9183-5D76-4C75-B4FC-7613BD7270D8}" presName="negativeSpace" presStyleCnt="0"/>
      <dgm:spPr/>
    </dgm:pt>
    <dgm:pt modelId="{012887DB-7282-4A6B-BF98-AD47C71C71D7}" type="pres">
      <dgm:prSet presAssocID="{AE4F9183-5D76-4C75-B4FC-7613BD7270D8}" presName="childText" presStyleLbl="conFgAcc1" presStyleIdx="0" presStyleCnt="2" custScaleY="260112" custLinFactY="-11112" custLinFactNeighborX="426" custLinFactNeighborY="-100000">
        <dgm:presLayoutVars>
          <dgm:bulletEnabled val="1"/>
        </dgm:presLayoutVars>
      </dgm:prSet>
      <dgm:spPr/>
    </dgm:pt>
    <dgm:pt modelId="{EE5D1158-3E39-4BC5-8496-EFEEEFA026C7}" type="pres">
      <dgm:prSet presAssocID="{6953C630-845C-4A2F-9DE1-FB6FA0293BBD}" presName="spaceBetweenRectangles" presStyleCnt="0"/>
      <dgm:spPr/>
    </dgm:pt>
    <dgm:pt modelId="{3CEDD980-4CCE-4FE9-8AA7-AE9C1F1112BC}" type="pres">
      <dgm:prSet presAssocID="{B290767A-9E65-4BAB-885C-AEBB1B11C81E}" presName="parentLin" presStyleCnt="0"/>
      <dgm:spPr/>
    </dgm:pt>
    <dgm:pt modelId="{FAFDEC79-A373-4D2F-AAE5-0596C8C1AE8F}" type="pres">
      <dgm:prSet presAssocID="{B290767A-9E65-4BAB-885C-AEBB1B11C81E}" presName="parentLeftMargin" presStyleLbl="node1" presStyleIdx="0" presStyleCnt="2" custScaleY="100551"/>
      <dgm:spPr/>
    </dgm:pt>
    <dgm:pt modelId="{3F89AA7E-A4BA-4BEF-8C18-8B0F66CAE4E9}" type="pres">
      <dgm:prSet presAssocID="{B290767A-9E65-4BAB-885C-AEBB1B11C81E}" presName="parentText" presStyleLbl="node1" presStyleIdx="1" presStyleCnt="2" custLinFactNeighborX="-38239" custLinFactNeighborY="-17000">
        <dgm:presLayoutVars>
          <dgm:chMax val="0"/>
          <dgm:bulletEnabled val="1"/>
        </dgm:presLayoutVars>
      </dgm:prSet>
      <dgm:spPr/>
    </dgm:pt>
    <dgm:pt modelId="{E9735666-8B76-4943-AE51-D4B861C8BD76}" type="pres">
      <dgm:prSet presAssocID="{B290767A-9E65-4BAB-885C-AEBB1B11C81E}" presName="negativeSpace" presStyleCnt="0"/>
      <dgm:spPr/>
    </dgm:pt>
    <dgm:pt modelId="{9F113B71-1226-4110-9E67-269D89DFF5FD}" type="pres">
      <dgm:prSet presAssocID="{B290767A-9E65-4BAB-885C-AEBB1B11C81E}" presName="childText" presStyleLbl="conFgAcc1" presStyleIdx="1" presStyleCnt="2" custScaleY="254645" custLinFactNeighborX="-445" custLinFactNeighborY="-36242">
        <dgm:presLayoutVars>
          <dgm:bulletEnabled val="1"/>
        </dgm:presLayoutVars>
      </dgm:prSet>
      <dgm:spPr/>
    </dgm:pt>
  </dgm:ptLst>
  <dgm:cxnLst>
    <dgm:cxn modelId="{64A96E34-409D-4635-9604-0C8E4253F7B8}" srcId="{F918C549-EC9D-41FA-B28C-F74D1D408E36}" destId="{B290767A-9E65-4BAB-885C-AEBB1B11C81E}" srcOrd="1" destOrd="0" parTransId="{2304ECC1-329F-4187-86C2-DC49FC7D545C}" sibTransId="{3254C656-8FF8-4127-87A9-0C9C17D5108E}"/>
    <dgm:cxn modelId="{1614E863-F20F-461E-9695-1DB3C79B4EE0}" type="presOf" srcId="{AE4F9183-5D76-4C75-B4FC-7613BD7270D8}" destId="{CB968A80-C736-44DD-B28A-F310D30F77D5}" srcOrd="0" destOrd="0" presId="urn:microsoft.com/office/officeart/2005/8/layout/list1"/>
    <dgm:cxn modelId="{A62AB1A6-46BD-42E6-80C2-E80AD00093B1}" type="presOf" srcId="{F918C549-EC9D-41FA-B28C-F74D1D408E36}" destId="{7ACAEB4D-BC93-4325-BC29-78216A346CB3}" srcOrd="0" destOrd="0" presId="urn:microsoft.com/office/officeart/2005/8/layout/list1"/>
    <dgm:cxn modelId="{E2DD55B5-EA69-4485-BC04-8E78178CEE44}" type="presOf" srcId="{B290767A-9E65-4BAB-885C-AEBB1B11C81E}" destId="{3F89AA7E-A4BA-4BEF-8C18-8B0F66CAE4E9}" srcOrd="1" destOrd="0" presId="urn:microsoft.com/office/officeart/2005/8/layout/list1"/>
    <dgm:cxn modelId="{D4377AC3-462F-4F6B-8251-21A6959E3040}" type="presOf" srcId="{B290767A-9E65-4BAB-885C-AEBB1B11C81E}" destId="{FAFDEC79-A373-4D2F-AAE5-0596C8C1AE8F}" srcOrd="0" destOrd="0" presId="urn:microsoft.com/office/officeart/2005/8/layout/list1"/>
    <dgm:cxn modelId="{CCFC70D0-F0E9-44F6-91B6-4A2AAAA9F323}" type="presOf" srcId="{AE4F9183-5D76-4C75-B4FC-7613BD7270D8}" destId="{C05CC03D-1AE5-4F85-8EB9-E14E8662A16E}" srcOrd="1" destOrd="0" presId="urn:microsoft.com/office/officeart/2005/8/layout/list1"/>
    <dgm:cxn modelId="{E6111FF2-DF70-4C16-A9DD-AB4F26C062B0}" srcId="{F918C549-EC9D-41FA-B28C-F74D1D408E36}" destId="{AE4F9183-5D76-4C75-B4FC-7613BD7270D8}" srcOrd="0" destOrd="0" parTransId="{42CE1B43-1CE3-4836-8A2E-6F1C49C192C2}" sibTransId="{6953C630-845C-4A2F-9DE1-FB6FA0293BBD}"/>
    <dgm:cxn modelId="{A0F7EDC7-2C97-47D1-B9EF-434068F15313}" type="presParOf" srcId="{7ACAEB4D-BC93-4325-BC29-78216A346CB3}" destId="{1E119D81-151E-4253-AB88-5A9B19276AE2}" srcOrd="0" destOrd="0" presId="urn:microsoft.com/office/officeart/2005/8/layout/list1"/>
    <dgm:cxn modelId="{2C887FCF-9482-4746-BD5D-64093C630773}" type="presParOf" srcId="{1E119D81-151E-4253-AB88-5A9B19276AE2}" destId="{CB968A80-C736-44DD-B28A-F310D30F77D5}" srcOrd="0" destOrd="0" presId="urn:microsoft.com/office/officeart/2005/8/layout/list1"/>
    <dgm:cxn modelId="{51B66E61-DDC1-4C68-ACB6-4BBA1FCC4097}" type="presParOf" srcId="{1E119D81-151E-4253-AB88-5A9B19276AE2}" destId="{C05CC03D-1AE5-4F85-8EB9-E14E8662A16E}" srcOrd="1" destOrd="0" presId="urn:microsoft.com/office/officeart/2005/8/layout/list1"/>
    <dgm:cxn modelId="{718D2590-C8EB-400F-B7F5-9B188BA21E3A}" type="presParOf" srcId="{7ACAEB4D-BC93-4325-BC29-78216A346CB3}" destId="{7E757926-0682-4D16-AAAE-2E30BF550139}" srcOrd="1" destOrd="0" presId="urn:microsoft.com/office/officeart/2005/8/layout/list1"/>
    <dgm:cxn modelId="{E690E8F9-6D60-4D91-B76C-DE9FDBA7B869}" type="presParOf" srcId="{7ACAEB4D-BC93-4325-BC29-78216A346CB3}" destId="{012887DB-7282-4A6B-BF98-AD47C71C71D7}" srcOrd="2" destOrd="0" presId="urn:microsoft.com/office/officeart/2005/8/layout/list1"/>
    <dgm:cxn modelId="{8EEF03B8-80DD-4D1E-A692-BF2A5D07EA1E}" type="presParOf" srcId="{7ACAEB4D-BC93-4325-BC29-78216A346CB3}" destId="{EE5D1158-3E39-4BC5-8496-EFEEEFA026C7}" srcOrd="3" destOrd="0" presId="urn:microsoft.com/office/officeart/2005/8/layout/list1"/>
    <dgm:cxn modelId="{4FDCE91C-A34C-4A69-9600-2A229BF9EEAD}" type="presParOf" srcId="{7ACAEB4D-BC93-4325-BC29-78216A346CB3}" destId="{3CEDD980-4CCE-4FE9-8AA7-AE9C1F1112BC}" srcOrd="4" destOrd="0" presId="urn:microsoft.com/office/officeart/2005/8/layout/list1"/>
    <dgm:cxn modelId="{A2FF619E-4800-494D-89A6-CB639F9F40B6}" type="presParOf" srcId="{3CEDD980-4CCE-4FE9-8AA7-AE9C1F1112BC}" destId="{FAFDEC79-A373-4D2F-AAE5-0596C8C1AE8F}" srcOrd="0" destOrd="0" presId="urn:microsoft.com/office/officeart/2005/8/layout/list1"/>
    <dgm:cxn modelId="{431736F2-E7E2-4157-8163-4A0DC4C6348E}" type="presParOf" srcId="{3CEDD980-4CCE-4FE9-8AA7-AE9C1F1112BC}" destId="{3F89AA7E-A4BA-4BEF-8C18-8B0F66CAE4E9}" srcOrd="1" destOrd="0" presId="urn:microsoft.com/office/officeart/2005/8/layout/list1"/>
    <dgm:cxn modelId="{B3A04F92-F531-458D-A88B-98D2FEE945D1}" type="presParOf" srcId="{7ACAEB4D-BC93-4325-BC29-78216A346CB3}" destId="{E9735666-8B76-4943-AE51-D4B861C8BD76}" srcOrd="5" destOrd="0" presId="urn:microsoft.com/office/officeart/2005/8/layout/list1"/>
    <dgm:cxn modelId="{A6C21F45-4CD1-42E0-881B-9843931D6103}" type="presParOf" srcId="{7ACAEB4D-BC93-4325-BC29-78216A346CB3}" destId="{9F113B71-1226-4110-9E67-269D89DFF5FD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918C549-EC9D-41FA-B28C-F74D1D408E36}" type="doc">
      <dgm:prSet loTypeId="urn:microsoft.com/office/officeart/2005/8/layout/list1" loCatId="list" qsTypeId="urn:microsoft.com/office/officeart/2005/8/quickstyle/simple1#6" qsCatId="simple" csTypeId="urn:microsoft.com/office/officeart/2005/8/colors/accent1_2#6" csCatId="accent1" phldr="1"/>
      <dgm:spPr/>
      <dgm:t>
        <a:bodyPr/>
        <a:lstStyle/>
        <a:p>
          <a:endParaRPr lang="en-IN"/>
        </a:p>
      </dgm:t>
    </dgm:pt>
    <dgm:pt modelId="{AE4F9183-5D76-4C75-B4FC-7613BD7270D8}">
      <dgm:prSet phldrT="[Text]" custT="1"/>
      <dgm:spPr/>
      <dgm:t>
        <a:bodyPr/>
        <a:lstStyle/>
        <a:p>
          <a:r>
            <a:rPr lang="en-US" sz="1700" dirty="0">
              <a:latin typeface="Arial" panose="020B0604020202020204" pitchFamily="34" charset="0"/>
              <a:cs typeface="Arial" panose="020B0604020202020204" pitchFamily="34" charset="0"/>
            </a:rPr>
            <a:t>Economic &amp; Market Impact:</a:t>
          </a:r>
          <a:endParaRPr lang="en-IN" sz="17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2CE1B43-1CE3-4836-8A2E-6F1C49C192C2}" type="parTrans" cxnId="{E6111FF2-DF70-4C16-A9DD-AB4F26C062B0}">
      <dgm:prSet/>
      <dgm:spPr/>
      <dgm:t>
        <a:bodyPr/>
        <a:lstStyle/>
        <a:p>
          <a:endParaRPr lang="en-IN"/>
        </a:p>
      </dgm:t>
    </dgm:pt>
    <dgm:pt modelId="{6953C630-845C-4A2F-9DE1-FB6FA0293BBD}" type="sibTrans" cxnId="{E6111FF2-DF70-4C16-A9DD-AB4F26C062B0}">
      <dgm:prSet/>
      <dgm:spPr/>
      <dgm:t>
        <a:bodyPr/>
        <a:lstStyle/>
        <a:p>
          <a:endParaRPr lang="en-IN"/>
        </a:p>
      </dgm:t>
    </dgm:pt>
    <dgm:pt modelId="{B290767A-9E65-4BAB-885C-AEBB1B11C81E}">
      <dgm:prSet phldrT="[Text]"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Industry &amp; Social Impact:</a:t>
          </a:r>
          <a:endParaRPr lang="en-IN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304ECC1-329F-4187-86C2-DC49FC7D545C}" type="parTrans" cxnId="{64A96E34-409D-4635-9604-0C8E4253F7B8}">
      <dgm:prSet/>
      <dgm:spPr/>
      <dgm:t>
        <a:bodyPr/>
        <a:lstStyle/>
        <a:p>
          <a:endParaRPr lang="en-IN"/>
        </a:p>
      </dgm:t>
    </dgm:pt>
    <dgm:pt modelId="{3254C656-8FF8-4127-87A9-0C9C17D5108E}" type="sibTrans" cxnId="{64A96E34-409D-4635-9604-0C8E4253F7B8}">
      <dgm:prSet/>
      <dgm:spPr/>
      <dgm:t>
        <a:bodyPr/>
        <a:lstStyle/>
        <a:p>
          <a:endParaRPr lang="en-IN"/>
        </a:p>
      </dgm:t>
    </dgm:pt>
    <dgm:pt modelId="{7ACAEB4D-BC93-4325-BC29-78216A346CB3}" type="pres">
      <dgm:prSet presAssocID="{F918C549-EC9D-41FA-B28C-F74D1D408E36}" presName="linear" presStyleCnt="0">
        <dgm:presLayoutVars>
          <dgm:dir/>
          <dgm:animLvl val="lvl"/>
          <dgm:resizeHandles val="exact"/>
        </dgm:presLayoutVars>
      </dgm:prSet>
      <dgm:spPr/>
    </dgm:pt>
    <dgm:pt modelId="{1E119D81-151E-4253-AB88-5A9B19276AE2}" type="pres">
      <dgm:prSet presAssocID="{AE4F9183-5D76-4C75-B4FC-7613BD7270D8}" presName="parentLin" presStyleCnt="0"/>
      <dgm:spPr/>
    </dgm:pt>
    <dgm:pt modelId="{CB968A80-C736-44DD-B28A-F310D30F77D5}" type="pres">
      <dgm:prSet presAssocID="{AE4F9183-5D76-4C75-B4FC-7613BD7270D8}" presName="parentLeftMargin" presStyleLbl="node1" presStyleIdx="0" presStyleCnt="2" custScaleY="64824"/>
      <dgm:spPr/>
    </dgm:pt>
    <dgm:pt modelId="{C05CC03D-1AE5-4F85-8EB9-E14E8662A16E}" type="pres">
      <dgm:prSet presAssocID="{AE4F9183-5D76-4C75-B4FC-7613BD7270D8}" presName="parentText" presStyleLbl="node1" presStyleIdx="0" presStyleCnt="2" custScaleY="100551" custLinFactNeighborX="-29988" custLinFactNeighborY="-95773">
        <dgm:presLayoutVars>
          <dgm:chMax val="0"/>
          <dgm:bulletEnabled val="1"/>
        </dgm:presLayoutVars>
      </dgm:prSet>
      <dgm:spPr/>
    </dgm:pt>
    <dgm:pt modelId="{7E757926-0682-4D16-AAAE-2E30BF550139}" type="pres">
      <dgm:prSet presAssocID="{AE4F9183-5D76-4C75-B4FC-7613BD7270D8}" presName="negativeSpace" presStyleCnt="0"/>
      <dgm:spPr/>
    </dgm:pt>
    <dgm:pt modelId="{012887DB-7282-4A6B-BF98-AD47C71C71D7}" type="pres">
      <dgm:prSet presAssocID="{AE4F9183-5D76-4C75-B4FC-7613BD7270D8}" presName="childText" presStyleLbl="conFgAcc1" presStyleIdx="0" presStyleCnt="2" custScaleY="260112" custLinFactY="-11112" custLinFactNeighborX="426" custLinFactNeighborY="-100000">
        <dgm:presLayoutVars>
          <dgm:bulletEnabled val="1"/>
        </dgm:presLayoutVars>
      </dgm:prSet>
      <dgm:spPr/>
    </dgm:pt>
    <dgm:pt modelId="{EE5D1158-3E39-4BC5-8496-EFEEEFA026C7}" type="pres">
      <dgm:prSet presAssocID="{6953C630-845C-4A2F-9DE1-FB6FA0293BBD}" presName="spaceBetweenRectangles" presStyleCnt="0"/>
      <dgm:spPr/>
    </dgm:pt>
    <dgm:pt modelId="{3CEDD980-4CCE-4FE9-8AA7-AE9C1F1112BC}" type="pres">
      <dgm:prSet presAssocID="{B290767A-9E65-4BAB-885C-AEBB1B11C81E}" presName="parentLin" presStyleCnt="0"/>
      <dgm:spPr/>
    </dgm:pt>
    <dgm:pt modelId="{FAFDEC79-A373-4D2F-AAE5-0596C8C1AE8F}" type="pres">
      <dgm:prSet presAssocID="{B290767A-9E65-4BAB-885C-AEBB1B11C81E}" presName="parentLeftMargin" presStyleLbl="node1" presStyleIdx="0" presStyleCnt="2" custScaleY="100551"/>
      <dgm:spPr/>
    </dgm:pt>
    <dgm:pt modelId="{3F89AA7E-A4BA-4BEF-8C18-8B0F66CAE4E9}" type="pres">
      <dgm:prSet presAssocID="{B290767A-9E65-4BAB-885C-AEBB1B11C81E}" presName="parentText" presStyleLbl="node1" presStyleIdx="1" presStyleCnt="2" custLinFactNeighborX="-38239" custLinFactNeighborY="-17000">
        <dgm:presLayoutVars>
          <dgm:chMax val="0"/>
          <dgm:bulletEnabled val="1"/>
        </dgm:presLayoutVars>
      </dgm:prSet>
      <dgm:spPr/>
    </dgm:pt>
    <dgm:pt modelId="{E9735666-8B76-4943-AE51-D4B861C8BD76}" type="pres">
      <dgm:prSet presAssocID="{B290767A-9E65-4BAB-885C-AEBB1B11C81E}" presName="negativeSpace" presStyleCnt="0"/>
      <dgm:spPr/>
    </dgm:pt>
    <dgm:pt modelId="{9F113B71-1226-4110-9E67-269D89DFF5FD}" type="pres">
      <dgm:prSet presAssocID="{B290767A-9E65-4BAB-885C-AEBB1B11C81E}" presName="childText" presStyleLbl="conFgAcc1" presStyleIdx="1" presStyleCnt="2" custScaleY="254645" custLinFactNeighborX="-445" custLinFactNeighborY="-36242">
        <dgm:presLayoutVars>
          <dgm:bulletEnabled val="1"/>
        </dgm:presLayoutVars>
      </dgm:prSet>
      <dgm:spPr/>
    </dgm:pt>
  </dgm:ptLst>
  <dgm:cxnLst>
    <dgm:cxn modelId="{64A96E34-409D-4635-9604-0C8E4253F7B8}" srcId="{F918C549-EC9D-41FA-B28C-F74D1D408E36}" destId="{B290767A-9E65-4BAB-885C-AEBB1B11C81E}" srcOrd="1" destOrd="0" parTransId="{2304ECC1-329F-4187-86C2-DC49FC7D545C}" sibTransId="{3254C656-8FF8-4127-87A9-0C9C17D5108E}"/>
    <dgm:cxn modelId="{1614E863-F20F-461E-9695-1DB3C79B4EE0}" type="presOf" srcId="{AE4F9183-5D76-4C75-B4FC-7613BD7270D8}" destId="{CB968A80-C736-44DD-B28A-F310D30F77D5}" srcOrd="0" destOrd="0" presId="urn:microsoft.com/office/officeart/2005/8/layout/list1"/>
    <dgm:cxn modelId="{A62AB1A6-46BD-42E6-80C2-E80AD00093B1}" type="presOf" srcId="{F918C549-EC9D-41FA-B28C-F74D1D408E36}" destId="{7ACAEB4D-BC93-4325-BC29-78216A346CB3}" srcOrd="0" destOrd="0" presId="urn:microsoft.com/office/officeart/2005/8/layout/list1"/>
    <dgm:cxn modelId="{E2DD55B5-EA69-4485-BC04-8E78178CEE44}" type="presOf" srcId="{B290767A-9E65-4BAB-885C-AEBB1B11C81E}" destId="{3F89AA7E-A4BA-4BEF-8C18-8B0F66CAE4E9}" srcOrd="1" destOrd="0" presId="urn:microsoft.com/office/officeart/2005/8/layout/list1"/>
    <dgm:cxn modelId="{D4377AC3-462F-4F6B-8251-21A6959E3040}" type="presOf" srcId="{B290767A-9E65-4BAB-885C-AEBB1B11C81E}" destId="{FAFDEC79-A373-4D2F-AAE5-0596C8C1AE8F}" srcOrd="0" destOrd="0" presId="urn:microsoft.com/office/officeart/2005/8/layout/list1"/>
    <dgm:cxn modelId="{CCFC70D0-F0E9-44F6-91B6-4A2AAAA9F323}" type="presOf" srcId="{AE4F9183-5D76-4C75-B4FC-7613BD7270D8}" destId="{C05CC03D-1AE5-4F85-8EB9-E14E8662A16E}" srcOrd="1" destOrd="0" presId="urn:microsoft.com/office/officeart/2005/8/layout/list1"/>
    <dgm:cxn modelId="{E6111FF2-DF70-4C16-A9DD-AB4F26C062B0}" srcId="{F918C549-EC9D-41FA-B28C-F74D1D408E36}" destId="{AE4F9183-5D76-4C75-B4FC-7613BD7270D8}" srcOrd="0" destOrd="0" parTransId="{42CE1B43-1CE3-4836-8A2E-6F1C49C192C2}" sibTransId="{6953C630-845C-4A2F-9DE1-FB6FA0293BBD}"/>
    <dgm:cxn modelId="{A0F7EDC7-2C97-47D1-B9EF-434068F15313}" type="presParOf" srcId="{7ACAEB4D-BC93-4325-BC29-78216A346CB3}" destId="{1E119D81-151E-4253-AB88-5A9B19276AE2}" srcOrd="0" destOrd="0" presId="urn:microsoft.com/office/officeart/2005/8/layout/list1"/>
    <dgm:cxn modelId="{2C887FCF-9482-4746-BD5D-64093C630773}" type="presParOf" srcId="{1E119D81-151E-4253-AB88-5A9B19276AE2}" destId="{CB968A80-C736-44DD-B28A-F310D30F77D5}" srcOrd="0" destOrd="0" presId="urn:microsoft.com/office/officeart/2005/8/layout/list1"/>
    <dgm:cxn modelId="{51B66E61-DDC1-4C68-ACB6-4BBA1FCC4097}" type="presParOf" srcId="{1E119D81-151E-4253-AB88-5A9B19276AE2}" destId="{C05CC03D-1AE5-4F85-8EB9-E14E8662A16E}" srcOrd="1" destOrd="0" presId="urn:microsoft.com/office/officeart/2005/8/layout/list1"/>
    <dgm:cxn modelId="{718D2590-C8EB-400F-B7F5-9B188BA21E3A}" type="presParOf" srcId="{7ACAEB4D-BC93-4325-BC29-78216A346CB3}" destId="{7E757926-0682-4D16-AAAE-2E30BF550139}" srcOrd="1" destOrd="0" presId="urn:microsoft.com/office/officeart/2005/8/layout/list1"/>
    <dgm:cxn modelId="{E690E8F9-6D60-4D91-B76C-DE9FDBA7B869}" type="presParOf" srcId="{7ACAEB4D-BC93-4325-BC29-78216A346CB3}" destId="{012887DB-7282-4A6B-BF98-AD47C71C71D7}" srcOrd="2" destOrd="0" presId="urn:microsoft.com/office/officeart/2005/8/layout/list1"/>
    <dgm:cxn modelId="{8EEF03B8-80DD-4D1E-A692-BF2A5D07EA1E}" type="presParOf" srcId="{7ACAEB4D-BC93-4325-BC29-78216A346CB3}" destId="{EE5D1158-3E39-4BC5-8496-EFEEEFA026C7}" srcOrd="3" destOrd="0" presId="urn:microsoft.com/office/officeart/2005/8/layout/list1"/>
    <dgm:cxn modelId="{4FDCE91C-A34C-4A69-9600-2A229BF9EEAD}" type="presParOf" srcId="{7ACAEB4D-BC93-4325-BC29-78216A346CB3}" destId="{3CEDD980-4CCE-4FE9-8AA7-AE9C1F1112BC}" srcOrd="4" destOrd="0" presId="urn:microsoft.com/office/officeart/2005/8/layout/list1"/>
    <dgm:cxn modelId="{A2FF619E-4800-494D-89A6-CB639F9F40B6}" type="presParOf" srcId="{3CEDD980-4CCE-4FE9-8AA7-AE9C1F1112BC}" destId="{FAFDEC79-A373-4D2F-AAE5-0596C8C1AE8F}" srcOrd="0" destOrd="0" presId="urn:microsoft.com/office/officeart/2005/8/layout/list1"/>
    <dgm:cxn modelId="{431736F2-E7E2-4157-8163-4A0DC4C6348E}" type="presParOf" srcId="{3CEDD980-4CCE-4FE9-8AA7-AE9C1F1112BC}" destId="{3F89AA7E-A4BA-4BEF-8C18-8B0F66CAE4E9}" srcOrd="1" destOrd="0" presId="urn:microsoft.com/office/officeart/2005/8/layout/list1"/>
    <dgm:cxn modelId="{B3A04F92-F531-458D-A88B-98D2FEE945D1}" type="presParOf" srcId="{7ACAEB4D-BC93-4325-BC29-78216A346CB3}" destId="{E9735666-8B76-4943-AE51-D4B861C8BD76}" srcOrd="5" destOrd="0" presId="urn:microsoft.com/office/officeart/2005/8/layout/list1"/>
    <dgm:cxn modelId="{A6C21F45-4CD1-42E0-881B-9843931D6103}" type="presParOf" srcId="{7ACAEB4D-BC93-4325-BC29-78216A346CB3}" destId="{9F113B71-1226-4110-9E67-269D89DFF5FD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2887DB-7282-4A6B-BF98-AD47C71C71D7}">
      <dsp:nvSpPr>
        <dsp:cNvPr id="0" name=""/>
        <dsp:cNvSpPr/>
      </dsp:nvSpPr>
      <dsp:spPr>
        <a:xfrm>
          <a:off x="0" y="180841"/>
          <a:ext cx="5516416" cy="117986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5CC03D-1AE5-4F85-8EB9-E14E8662A16E}">
      <dsp:nvSpPr>
        <dsp:cNvPr id="0" name=""/>
        <dsp:cNvSpPr/>
      </dsp:nvSpPr>
      <dsp:spPr>
        <a:xfrm>
          <a:off x="193107" y="0"/>
          <a:ext cx="3861491" cy="5342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5955" tIns="0" rIns="14595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Arial" panose="020B0604020202020204" pitchFamily="34" charset="0"/>
              <a:cs typeface="Arial" panose="020B0604020202020204" pitchFamily="34" charset="0"/>
            </a:rPr>
            <a:t>Circular &amp; Environmental Impact:</a:t>
          </a:r>
          <a:endParaRPr lang="en-IN" sz="17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9189" y="26082"/>
        <a:ext cx="3809327" cy="482123"/>
      </dsp:txXfrm>
    </dsp:sp>
    <dsp:sp modelId="{9F113B71-1226-4110-9E67-269D89DFF5FD}">
      <dsp:nvSpPr>
        <dsp:cNvPr id="0" name=""/>
        <dsp:cNvSpPr/>
      </dsp:nvSpPr>
      <dsp:spPr>
        <a:xfrm>
          <a:off x="0" y="1774905"/>
          <a:ext cx="5516416" cy="115506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89AA7E-A4BA-4BEF-8C18-8B0F66CAE4E9}">
      <dsp:nvSpPr>
        <dsp:cNvPr id="0" name=""/>
        <dsp:cNvSpPr/>
      </dsp:nvSpPr>
      <dsp:spPr>
        <a:xfrm>
          <a:off x="170349" y="1515182"/>
          <a:ext cx="3861491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5955" tIns="0" rIns="145955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Digital &amp; Data Impact:</a:t>
          </a:r>
          <a:endParaRPr lang="en-IN" sz="1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96288" y="1541121"/>
        <a:ext cx="3809613" cy="4794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2887DB-7282-4A6B-BF98-AD47C71C71D7}">
      <dsp:nvSpPr>
        <dsp:cNvPr id="0" name=""/>
        <dsp:cNvSpPr/>
      </dsp:nvSpPr>
      <dsp:spPr>
        <a:xfrm>
          <a:off x="0" y="180841"/>
          <a:ext cx="5516416" cy="117986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5CC03D-1AE5-4F85-8EB9-E14E8662A16E}">
      <dsp:nvSpPr>
        <dsp:cNvPr id="0" name=""/>
        <dsp:cNvSpPr/>
      </dsp:nvSpPr>
      <dsp:spPr>
        <a:xfrm>
          <a:off x="193107" y="0"/>
          <a:ext cx="3861491" cy="5342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5955" tIns="0" rIns="14595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Arial" panose="020B0604020202020204" pitchFamily="34" charset="0"/>
              <a:cs typeface="Arial" panose="020B0604020202020204" pitchFamily="34" charset="0"/>
            </a:rPr>
            <a:t>Economic &amp; Market Impact:</a:t>
          </a:r>
          <a:endParaRPr lang="en-IN" sz="17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9189" y="26082"/>
        <a:ext cx="3809327" cy="482123"/>
      </dsp:txXfrm>
    </dsp:sp>
    <dsp:sp modelId="{9F113B71-1226-4110-9E67-269D89DFF5FD}">
      <dsp:nvSpPr>
        <dsp:cNvPr id="0" name=""/>
        <dsp:cNvSpPr/>
      </dsp:nvSpPr>
      <dsp:spPr>
        <a:xfrm>
          <a:off x="0" y="1774905"/>
          <a:ext cx="5516416" cy="115506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89AA7E-A4BA-4BEF-8C18-8B0F66CAE4E9}">
      <dsp:nvSpPr>
        <dsp:cNvPr id="0" name=""/>
        <dsp:cNvSpPr/>
      </dsp:nvSpPr>
      <dsp:spPr>
        <a:xfrm>
          <a:off x="170349" y="1515182"/>
          <a:ext cx="3861491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5955" tIns="0" rIns="145955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Industry &amp; Social Impact:</a:t>
          </a:r>
          <a:endParaRPr lang="en-IN" sz="1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96288" y="1541121"/>
        <a:ext cx="3809613" cy="4794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426F2-8D8C-421D-3827-36DCE78E7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F8807453-3216-D4B1-CF30-68871E02C6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13030713-0124-1944-45F9-ED99A15556F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50884C4E-5731-8684-75B0-D47E63F9AC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8904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991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99249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572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11" Type="http://schemas.openxmlformats.org/officeDocument/2006/relationships/image" Target="../media/image10.jp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microsoft.com/office/2007/relationships/diagramDrawing" Target="../diagrams/drawing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diagramColors" Target="../diagrams/colors2.xml"/><Relationship Id="rId1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QuickStyle" Target="../diagrams/quickStyle2.xml"/><Relationship Id="rId5" Type="http://schemas.openxmlformats.org/officeDocument/2006/relationships/diagramQuickStyle" Target="../diagrams/quickStyle1.xml"/><Relationship Id="rId15" Type="http://schemas.openxmlformats.org/officeDocument/2006/relationships/image" Target="../media/image12.png"/><Relationship Id="rId10" Type="http://schemas.openxmlformats.org/officeDocument/2006/relationships/diagramLayout" Target="../diagrams/layout2.xml"/><Relationship Id="rId4" Type="http://schemas.openxmlformats.org/officeDocument/2006/relationships/diagramLayout" Target="../diagrams/layout1.xml"/><Relationship Id="rId9" Type="http://schemas.openxmlformats.org/officeDocument/2006/relationships/diagramData" Target="../diagrams/data2.xml"/><Relationship Id="rId1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share.google/4dkCnX1r7R0Y0cfSn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hare.google/wJEuTtWOXVpILQGCX" TargetMode="External"/><Relationship Id="rId5" Type="http://schemas.openxmlformats.org/officeDocument/2006/relationships/hyperlink" Target="https://share.google/3zVmtDSzNIIAUeg46" TargetMode="External"/><Relationship Id="rId4" Type="http://schemas.openxmlformats.org/officeDocument/2006/relationships/hyperlink" Target="https://share.google/J9Q7XArKoGuaADDgz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427" y="1178949"/>
            <a:ext cx="5924550" cy="5198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26195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Solutions could be in the form of waste segregation, disposal, and improve sanitization system.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 - 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Clean and Green technology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 - SIH26-A0H-T504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SthapatyaX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674F0-2973-0DFF-BB5A-DF782A711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CA8BF234-F4DD-8C7B-60E7-33FB62285240}"/>
              </a:ext>
            </a:extLst>
          </p:cNvPr>
          <p:cNvSpPr/>
          <p:nvPr/>
        </p:nvSpPr>
        <p:spPr>
          <a:xfrm>
            <a:off x="6757472" y="5612843"/>
            <a:ext cx="2009933" cy="110835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245345E6-DFB3-C967-6CD6-7056A15AE200}"/>
              </a:ext>
            </a:extLst>
          </p:cNvPr>
          <p:cNvSpPr/>
          <p:nvPr/>
        </p:nvSpPr>
        <p:spPr>
          <a:xfrm>
            <a:off x="4500875" y="5612843"/>
            <a:ext cx="2133385" cy="110835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DF9F22D-1E76-E3E9-DB00-6409D87C17E9}"/>
              </a:ext>
            </a:extLst>
          </p:cNvPr>
          <p:cNvSpPr/>
          <p:nvPr/>
        </p:nvSpPr>
        <p:spPr>
          <a:xfrm>
            <a:off x="2258285" y="2915998"/>
            <a:ext cx="1988316" cy="1327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580C600-B3D2-68AF-AEDE-86A2E300DEE4}"/>
              </a:ext>
            </a:extLst>
          </p:cNvPr>
          <p:cNvSpPr/>
          <p:nvPr/>
        </p:nvSpPr>
        <p:spPr>
          <a:xfrm>
            <a:off x="4390220" y="2915998"/>
            <a:ext cx="4347380" cy="13309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F508D19-8031-8F7C-313E-47A2E18F0B99}"/>
              </a:ext>
            </a:extLst>
          </p:cNvPr>
          <p:cNvSpPr/>
          <p:nvPr/>
        </p:nvSpPr>
        <p:spPr>
          <a:xfrm>
            <a:off x="151666" y="2915490"/>
            <a:ext cx="1988316" cy="1327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361" name="Title 1">
            <a:extLst>
              <a:ext uri="{FF2B5EF4-FFF2-40B4-BE49-F238E27FC236}">
                <a16:creationId xmlns:a16="http://schemas.microsoft.com/office/drawing/2014/main" id="{B7DD8FCC-250C-4295-7412-6697618B3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5688" y="-278722"/>
            <a:ext cx="7418556" cy="1143000"/>
          </a:xfrm>
        </p:spPr>
        <p:txBody>
          <a:bodyPr/>
          <a:lstStyle/>
          <a:p>
            <a:pPr eaLnBrk="1" hangingPunct="1"/>
            <a:b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Smart construction waste segregation &amp; sustainable disposal system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33259-73C2-DD82-94DB-98B7A7DD8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415345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tx1"/>
                </a:solidFill>
              </a:rPr>
              <a:pPr/>
              <a:t>2</a:t>
            </a:fld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E5FA59CE-7F37-66DB-64B9-24275320647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26876" y="54371"/>
            <a:ext cx="212395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STHAPATYAX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326E168-DB6F-5852-A357-C52B0FC184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E939F47F-8604-818D-F8DA-3493DD9A2CD0}"/>
              </a:ext>
            </a:extLst>
          </p:cNvPr>
          <p:cNvSpPr txBox="1"/>
          <p:nvPr/>
        </p:nvSpPr>
        <p:spPr>
          <a:xfrm>
            <a:off x="144625" y="2960989"/>
            <a:ext cx="19871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STAGE 1 : UPLOAD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50CB193-B61E-74D2-5D89-BE5A9F9389AB}"/>
              </a:ext>
            </a:extLst>
          </p:cNvPr>
          <p:cNvSpPr txBox="1"/>
          <p:nvPr/>
        </p:nvSpPr>
        <p:spPr>
          <a:xfrm>
            <a:off x="2310081" y="2926723"/>
            <a:ext cx="22917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STAGE 2 :</a:t>
            </a: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AI DETECTION</a:t>
            </a:r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EE22988-D3AA-5586-429E-755478EA0D58}"/>
              </a:ext>
            </a:extLst>
          </p:cNvPr>
          <p:cNvSpPr txBox="1"/>
          <p:nvPr/>
        </p:nvSpPr>
        <p:spPr>
          <a:xfrm>
            <a:off x="4434295" y="2981670"/>
            <a:ext cx="38789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STAGE 3 :MATERIAL PASSPORT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8050E2D-F3D5-A2AD-A333-E502A873F169}"/>
              </a:ext>
            </a:extLst>
          </p:cNvPr>
          <p:cNvSpPr txBox="1"/>
          <p:nvPr/>
        </p:nvSpPr>
        <p:spPr>
          <a:xfrm>
            <a:off x="209062" y="3188333"/>
            <a:ext cx="18388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User uploads the building’s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Building information model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to the website</a:t>
            </a:r>
            <a:r>
              <a:rPr lang="en-US" sz="1200" dirty="0"/>
              <a:t>.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ECA871C-F4F2-014F-827E-66C50DE06F96}"/>
              </a:ext>
            </a:extLst>
          </p:cNvPr>
          <p:cNvSpPr txBox="1"/>
          <p:nvPr/>
        </p:nvSpPr>
        <p:spPr>
          <a:xfrm>
            <a:off x="4410866" y="3344394"/>
            <a:ext cx="45176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The system generates a digital passport containing: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Material type, Location in building ,Dimensions , Manufacturer, Material properties, Installation information, Reusability,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Recycling potential ,Disposal requirements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53C6E52-85D0-FA8E-A008-A1F0EF7EC4FE}"/>
              </a:ext>
            </a:extLst>
          </p:cNvPr>
          <p:cNvSpPr txBox="1"/>
          <p:nvPr/>
        </p:nvSpPr>
        <p:spPr>
          <a:xfrm>
            <a:off x="2246134" y="3186608"/>
            <a:ext cx="21452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sz="1200" dirty="0"/>
            </a:b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AI analyses the BIM model and identifies materials, components and their properties.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DA9DB20-5B48-F166-8D79-8F5FE48040C5}"/>
              </a:ext>
            </a:extLst>
          </p:cNvPr>
          <p:cNvSpPr txBox="1"/>
          <p:nvPr/>
        </p:nvSpPr>
        <p:spPr>
          <a:xfrm>
            <a:off x="74487" y="1675712"/>
            <a:ext cx="1891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IDEA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E8EE41-B153-C911-A149-8C9EC13011CF}"/>
              </a:ext>
            </a:extLst>
          </p:cNvPr>
          <p:cNvSpPr txBox="1"/>
          <p:nvPr/>
        </p:nvSpPr>
        <p:spPr>
          <a:xfrm>
            <a:off x="95462" y="1983273"/>
            <a:ext cx="11706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 web-based platform that converts a building’s information model (BIM)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into a digital Material Passport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using AI to identify, classify and organize construction materials before demolition. The platform helps stakeholders determine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what can be reused, recycled or safely disposed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reducing construction and demolition waste.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4CB37A-718D-857B-A043-B01677903ED4}"/>
              </a:ext>
            </a:extLst>
          </p:cNvPr>
          <p:cNvSpPr txBox="1"/>
          <p:nvPr/>
        </p:nvSpPr>
        <p:spPr>
          <a:xfrm>
            <a:off x="74487" y="2403464"/>
            <a:ext cx="23671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DETAILED SOLUTION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481A0A-63CC-2F09-AF97-555FDA76F797}"/>
              </a:ext>
            </a:extLst>
          </p:cNvPr>
          <p:cNvSpPr txBox="1"/>
          <p:nvPr/>
        </p:nvSpPr>
        <p:spPr>
          <a:xfrm>
            <a:off x="95463" y="935972"/>
            <a:ext cx="1208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D3D8E9-09DF-7928-2378-449F6287A4A5}"/>
              </a:ext>
            </a:extLst>
          </p:cNvPr>
          <p:cNvSpPr txBox="1"/>
          <p:nvPr/>
        </p:nvSpPr>
        <p:spPr>
          <a:xfrm>
            <a:off x="95463" y="1214042"/>
            <a:ext cx="11706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India generates 25–30 million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tonnes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of C&amp;D waste annually. Valuable materials such as steel, bricks, timber and glass are often lost during demolition due to poor identification and segregation, making reuse, recycling and responsible disposal difficult.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99CD772-06F2-ACD5-13A6-6B78FCD614B7}"/>
              </a:ext>
            </a:extLst>
          </p:cNvPr>
          <p:cNvSpPr/>
          <p:nvPr/>
        </p:nvSpPr>
        <p:spPr>
          <a:xfrm>
            <a:off x="151666" y="4367301"/>
            <a:ext cx="8565259" cy="95210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D1F7E7-5983-98D9-A83B-615B07814438}"/>
              </a:ext>
            </a:extLst>
          </p:cNvPr>
          <p:cNvSpPr txBox="1"/>
          <p:nvPr/>
        </p:nvSpPr>
        <p:spPr>
          <a:xfrm>
            <a:off x="275135" y="4543728"/>
            <a:ext cx="22917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STAGE 4 : AI SEGREGATION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A9F777-B84E-FC11-775E-F05FC8ABB7DB}"/>
              </a:ext>
            </a:extLst>
          </p:cNvPr>
          <p:cNvSpPr txBox="1"/>
          <p:nvPr/>
        </p:nvSpPr>
        <p:spPr>
          <a:xfrm>
            <a:off x="4434295" y="4205173"/>
            <a:ext cx="21452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sz="1200" dirty="0"/>
            </a:b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RECYCLE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Materials that cannot be directly reused but have recoverable material value.</a:t>
            </a:r>
          </a:p>
          <a:p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38BB84-08B6-DCD4-DC9A-6F6ED47E9BDC}"/>
              </a:ext>
            </a:extLst>
          </p:cNvPr>
          <p:cNvSpPr txBox="1"/>
          <p:nvPr/>
        </p:nvSpPr>
        <p:spPr>
          <a:xfrm>
            <a:off x="2199439" y="4276063"/>
            <a:ext cx="21452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sz="1200" dirty="0"/>
            </a:b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REUSE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Materials/components that can be directly reused.</a:t>
            </a:r>
          </a:p>
          <a:p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6BE0BD-3278-25DB-FAFE-CEF10F9E1900}"/>
              </a:ext>
            </a:extLst>
          </p:cNvPr>
          <p:cNvSpPr txBox="1"/>
          <p:nvPr/>
        </p:nvSpPr>
        <p:spPr>
          <a:xfrm>
            <a:off x="6749158" y="4240523"/>
            <a:ext cx="21452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sz="1200" dirty="0"/>
            </a:b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DISPOSE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Materials that cannot be reused or recycled safely/economically.</a:t>
            </a:r>
          </a:p>
          <a:p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A1C1B5E-C3AD-DAC6-742E-324A7815C503}"/>
              </a:ext>
            </a:extLst>
          </p:cNvPr>
          <p:cNvSpPr txBox="1"/>
          <p:nvPr/>
        </p:nvSpPr>
        <p:spPr>
          <a:xfrm>
            <a:off x="6826151" y="5448504"/>
            <a:ext cx="21452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sz="1200" dirty="0"/>
            </a:b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Platform provides information on authorized disposal facilities / government-designated locations.</a:t>
            </a:r>
          </a:p>
          <a:p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C81B288F-E205-4FE5-76D1-380DE5A29C77}"/>
              </a:ext>
            </a:extLst>
          </p:cNvPr>
          <p:cNvSpPr/>
          <p:nvPr/>
        </p:nvSpPr>
        <p:spPr>
          <a:xfrm>
            <a:off x="2210750" y="5603163"/>
            <a:ext cx="2083385" cy="110835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E36A3B1-F5E2-B472-7F75-15F793B9A802}"/>
              </a:ext>
            </a:extLst>
          </p:cNvPr>
          <p:cNvSpPr txBox="1"/>
          <p:nvPr/>
        </p:nvSpPr>
        <p:spPr>
          <a:xfrm>
            <a:off x="4475921" y="5448145"/>
            <a:ext cx="22145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sz="1200" dirty="0"/>
            </a:b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→ Platform identifies appropriate recycling pathway</a:t>
            </a:r>
            <a:b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→ Materials can be directed to registered recycling facilities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ACA35E4-3091-9D26-51D3-809F4FBB3C17}"/>
              </a:ext>
            </a:extLst>
          </p:cNvPr>
          <p:cNvSpPr txBox="1"/>
          <p:nvPr/>
        </p:nvSpPr>
        <p:spPr>
          <a:xfrm>
            <a:off x="2232579" y="5511190"/>
            <a:ext cx="21201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sz="1200" dirty="0"/>
            </a:b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→ Listed on the platform</a:t>
            </a:r>
            <a:b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→ Buyers can view details</a:t>
            </a:r>
            <a:b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→ Buyers can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bid/purchase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reusable materials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3393684-AB64-EA3C-7747-733D49DB9BB5}"/>
              </a:ext>
            </a:extLst>
          </p:cNvPr>
          <p:cNvCxnSpPr/>
          <p:nvPr/>
        </p:nvCxnSpPr>
        <p:spPr>
          <a:xfrm>
            <a:off x="3227832" y="5337713"/>
            <a:ext cx="0" cy="2934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362" name="Straight Arrow Connector 15361">
            <a:extLst>
              <a:ext uri="{FF2B5EF4-FFF2-40B4-BE49-F238E27FC236}">
                <a16:creationId xmlns:a16="http://schemas.microsoft.com/office/drawing/2014/main" id="{64D8C3E0-8B3D-18C9-57BA-A63D229A16AD}"/>
              </a:ext>
            </a:extLst>
          </p:cNvPr>
          <p:cNvCxnSpPr/>
          <p:nvPr/>
        </p:nvCxnSpPr>
        <p:spPr>
          <a:xfrm>
            <a:off x="5565648" y="5343393"/>
            <a:ext cx="0" cy="2934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363" name="Straight Arrow Connector 15362">
            <a:extLst>
              <a:ext uri="{FF2B5EF4-FFF2-40B4-BE49-F238E27FC236}">
                <a16:creationId xmlns:a16="http://schemas.microsoft.com/office/drawing/2014/main" id="{0726E4A3-0DE8-FB87-0C24-293AB15A79BB}"/>
              </a:ext>
            </a:extLst>
          </p:cNvPr>
          <p:cNvCxnSpPr/>
          <p:nvPr/>
        </p:nvCxnSpPr>
        <p:spPr>
          <a:xfrm>
            <a:off x="7684008" y="5349073"/>
            <a:ext cx="0" cy="2934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1122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32787" y="-143627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tx1"/>
                </a:solidFill>
              </a:rPr>
              <a:pPr/>
              <a:t>3</a:t>
            </a:fld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98352C5-662E-E76E-65D9-5E3C51231D0E}"/>
              </a:ext>
            </a:extLst>
          </p:cNvPr>
          <p:cNvSpPr txBox="1"/>
          <p:nvPr/>
        </p:nvSpPr>
        <p:spPr>
          <a:xfrm>
            <a:off x="220082" y="2326521"/>
            <a:ext cx="2580513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REACT + TYPESCRIPT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Builds the website where users upload BIM models and view material information.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62F862-0912-6962-74A6-6D7C825A5360}"/>
              </a:ext>
            </a:extLst>
          </p:cNvPr>
          <p:cNvSpPr txBox="1"/>
          <p:nvPr/>
        </p:nvSpPr>
        <p:spPr>
          <a:xfrm>
            <a:off x="3408172" y="2268687"/>
            <a:ext cx="25980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IFC + WEB-IFC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Reads the Building information model and extracts details such as walls, doors, steel, concrete, glass, quantity.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E0DA5F-8677-9D8D-D292-39290D487220}"/>
              </a:ext>
            </a:extLst>
          </p:cNvPr>
          <p:cNvSpPr txBox="1"/>
          <p:nvPr/>
        </p:nvSpPr>
        <p:spPr>
          <a:xfrm>
            <a:off x="6497987" y="2297716"/>
            <a:ext cx="2571334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THREE.JS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Displays the BIM building in 3D, allowing users to select individual components.</a:t>
            </a:r>
            <a:endParaRPr lang="en-IN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08B478-1A56-2EE1-14A5-A2EED1FD395C}"/>
              </a:ext>
            </a:extLst>
          </p:cNvPr>
          <p:cNvSpPr txBox="1"/>
          <p:nvPr/>
        </p:nvSpPr>
        <p:spPr>
          <a:xfrm>
            <a:off x="9485306" y="2296477"/>
            <a:ext cx="273475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AI + RULE ENGINE: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Analyses the extracted material data and decides whether each material is suitable for Reuse, Recycle, or Dispose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2C0E9D1-906D-4D72-349D-B992AF79506C}"/>
              </a:ext>
            </a:extLst>
          </p:cNvPr>
          <p:cNvSpPr/>
          <p:nvPr/>
        </p:nvSpPr>
        <p:spPr>
          <a:xfrm>
            <a:off x="165960" y="1170329"/>
            <a:ext cx="2580513" cy="2312385"/>
          </a:xfrm>
          <a:prstGeom prst="roundRect">
            <a:avLst/>
          </a:prstGeom>
          <a:noFill/>
          <a:ln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Oval 24" descr="Your startup LOGO">
            <a:extLst>
              <a:ext uri="{FF2B5EF4-FFF2-40B4-BE49-F238E27FC236}">
                <a16:creationId xmlns:a16="http://schemas.microsoft.com/office/drawing/2014/main" id="{EDD7D693-4569-57CD-6F2C-217A7339387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95431" y="145661"/>
            <a:ext cx="212395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STHAPATYAX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5FE986-5A4B-46B6-E3F6-37CB3A97CA9B}"/>
              </a:ext>
            </a:extLst>
          </p:cNvPr>
          <p:cNvSpPr txBox="1"/>
          <p:nvPr/>
        </p:nvSpPr>
        <p:spPr>
          <a:xfrm>
            <a:off x="163320" y="5069505"/>
            <a:ext cx="2763864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SUPABASE +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Stores the material passports, building data, users, marketplace listings, and bids.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2B99DB-B76F-267E-0036-0F1C068200EE}"/>
              </a:ext>
            </a:extLst>
          </p:cNvPr>
          <p:cNvSpPr txBox="1"/>
          <p:nvPr/>
        </p:nvSpPr>
        <p:spPr>
          <a:xfrm>
            <a:off x="3382395" y="5114238"/>
            <a:ext cx="27347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MARKETPLACE: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Allows buyers to find reusable materials and place bids.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60D3B5-798B-4CD0-C864-917EBA42FB2A}"/>
              </a:ext>
            </a:extLst>
          </p:cNvPr>
          <p:cNvSpPr txBox="1"/>
          <p:nvPr/>
        </p:nvSpPr>
        <p:spPr>
          <a:xfrm>
            <a:off x="9565914" y="5255179"/>
            <a:ext cx="273475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VERCEL + SUPABASE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Used to host and deploy the website.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AutoShape 2">
            <a:extLst>
              <a:ext uri="{FF2B5EF4-FFF2-40B4-BE49-F238E27FC236}">
                <a16:creationId xmlns:a16="http://schemas.microsoft.com/office/drawing/2014/main" id="{C84CA957-C050-EF88-4AD6-E5832040256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51927" y="356901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4DC5819D-EB43-D4D5-3315-34595B451952}"/>
              </a:ext>
            </a:extLst>
          </p:cNvPr>
          <p:cNvSpPr/>
          <p:nvPr/>
        </p:nvSpPr>
        <p:spPr>
          <a:xfrm>
            <a:off x="3329669" y="1232763"/>
            <a:ext cx="2580513" cy="2312385"/>
          </a:xfrm>
          <a:prstGeom prst="roundRect">
            <a:avLst/>
          </a:prstGeom>
          <a:noFill/>
          <a:ln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618BF2A5-21C2-AAFD-43F3-56D866BA1FD4}"/>
              </a:ext>
            </a:extLst>
          </p:cNvPr>
          <p:cNvSpPr/>
          <p:nvPr/>
        </p:nvSpPr>
        <p:spPr>
          <a:xfrm>
            <a:off x="6414332" y="1225097"/>
            <a:ext cx="2580513" cy="2283672"/>
          </a:xfrm>
          <a:prstGeom prst="roundRect">
            <a:avLst/>
          </a:prstGeom>
          <a:noFill/>
          <a:ln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2529AFBB-82BD-F6B2-8A10-1A3039B5F375}"/>
              </a:ext>
            </a:extLst>
          </p:cNvPr>
          <p:cNvSpPr/>
          <p:nvPr/>
        </p:nvSpPr>
        <p:spPr>
          <a:xfrm>
            <a:off x="9489896" y="1335539"/>
            <a:ext cx="2580513" cy="2283672"/>
          </a:xfrm>
          <a:prstGeom prst="roundRect">
            <a:avLst/>
          </a:prstGeom>
          <a:noFill/>
          <a:ln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D50CFE84-6604-21E7-86B6-B735DC1E5D98}"/>
              </a:ext>
            </a:extLst>
          </p:cNvPr>
          <p:cNvSpPr/>
          <p:nvPr/>
        </p:nvSpPr>
        <p:spPr>
          <a:xfrm>
            <a:off x="5919281" y="1731187"/>
            <a:ext cx="593775" cy="26303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2A2FF8FA-5894-1FA2-93EB-841AA681AB63}"/>
              </a:ext>
            </a:extLst>
          </p:cNvPr>
          <p:cNvSpPr/>
          <p:nvPr/>
        </p:nvSpPr>
        <p:spPr>
          <a:xfrm>
            <a:off x="8972139" y="1760919"/>
            <a:ext cx="593775" cy="26303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3460129-0DF7-F475-1C74-70C7AF74757D}"/>
              </a:ext>
            </a:extLst>
          </p:cNvPr>
          <p:cNvSpPr/>
          <p:nvPr/>
        </p:nvSpPr>
        <p:spPr>
          <a:xfrm>
            <a:off x="199161" y="3961207"/>
            <a:ext cx="2580513" cy="2312385"/>
          </a:xfrm>
          <a:prstGeom prst="roundRect">
            <a:avLst/>
          </a:prstGeom>
          <a:noFill/>
          <a:ln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22101D52-F6B3-C5FB-63E6-7A7F6F71D705}"/>
              </a:ext>
            </a:extLst>
          </p:cNvPr>
          <p:cNvSpPr/>
          <p:nvPr/>
        </p:nvSpPr>
        <p:spPr>
          <a:xfrm>
            <a:off x="3292233" y="3961206"/>
            <a:ext cx="2580513" cy="2312385"/>
          </a:xfrm>
          <a:prstGeom prst="roundRect">
            <a:avLst/>
          </a:prstGeom>
          <a:noFill/>
          <a:ln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CFF2BB84-3E87-7779-FC54-2F93495D771A}"/>
              </a:ext>
            </a:extLst>
          </p:cNvPr>
          <p:cNvSpPr/>
          <p:nvPr/>
        </p:nvSpPr>
        <p:spPr>
          <a:xfrm>
            <a:off x="6336292" y="3976042"/>
            <a:ext cx="2580513" cy="2312385"/>
          </a:xfrm>
          <a:prstGeom prst="roundRect">
            <a:avLst/>
          </a:prstGeom>
          <a:noFill/>
          <a:ln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36A56304-9B3C-B00B-FB28-CADA89D5ED2C}"/>
              </a:ext>
            </a:extLst>
          </p:cNvPr>
          <p:cNvSpPr/>
          <p:nvPr/>
        </p:nvSpPr>
        <p:spPr>
          <a:xfrm>
            <a:off x="9489895" y="4035194"/>
            <a:ext cx="2580513" cy="2312385"/>
          </a:xfrm>
          <a:prstGeom prst="roundRect">
            <a:avLst/>
          </a:prstGeom>
          <a:noFill/>
          <a:ln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16F85807-9650-EBEA-AE2B-E988F1654C04}"/>
              </a:ext>
            </a:extLst>
          </p:cNvPr>
          <p:cNvSpPr/>
          <p:nvPr/>
        </p:nvSpPr>
        <p:spPr>
          <a:xfrm>
            <a:off x="5860652" y="4495821"/>
            <a:ext cx="593775" cy="26303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D9217A1F-BBC0-C255-5E2C-C16722BEE045}"/>
              </a:ext>
            </a:extLst>
          </p:cNvPr>
          <p:cNvSpPr/>
          <p:nvPr/>
        </p:nvSpPr>
        <p:spPr>
          <a:xfrm>
            <a:off x="2779674" y="4466026"/>
            <a:ext cx="593775" cy="26303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Arrow: Right 49">
            <a:extLst>
              <a:ext uri="{FF2B5EF4-FFF2-40B4-BE49-F238E27FC236}">
                <a16:creationId xmlns:a16="http://schemas.microsoft.com/office/drawing/2014/main" id="{B044B4BA-319C-9847-B05A-30F56573CD0F}"/>
              </a:ext>
            </a:extLst>
          </p:cNvPr>
          <p:cNvSpPr/>
          <p:nvPr/>
        </p:nvSpPr>
        <p:spPr>
          <a:xfrm>
            <a:off x="2741184" y="1674225"/>
            <a:ext cx="593775" cy="26303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BD6405CB-2E92-761D-F03D-0C3B6124B6F1}"/>
              </a:ext>
            </a:extLst>
          </p:cNvPr>
          <p:cNvSpPr/>
          <p:nvPr/>
        </p:nvSpPr>
        <p:spPr>
          <a:xfrm>
            <a:off x="8928124" y="4492163"/>
            <a:ext cx="593775" cy="26303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FBB225D4-9310-FD50-19F4-8912E4F4A4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4643"/>
          <a:stretch/>
        </p:blipFill>
        <p:spPr>
          <a:xfrm>
            <a:off x="4071937" y="4103851"/>
            <a:ext cx="938975" cy="886345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875223F3-217F-4D46-4456-337EB7704AE2}"/>
              </a:ext>
            </a:extLst>
          </p:cNvPr>
          <p:cNvSpPr txBox="1"/>
          <p:nvPr/>
        </p:nvSpPr>
        <p:spPr>
          <a:xfrm>
            <a:off x="6434517" y="5255179"/>
            <a:ext cx="27347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MAPS API: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Shows suitable recycling and authorized disposal facilities.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410" name="Picture 17409">
            <a:extLst>
              <a:ext uri="{FF2B5EF4-FFF2-40B4-BE49-F238E27FC236}">
                <a16:creationId xmlns:a16="http://schemas.microsoft.com/office/drawing/2014/main" id="{2DA24521-E7DD-D11A-3AA7-00BD25580F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300" y="1257256"/>
            <a:ext cx="1085871" cy="1085871"/>
          </a:xfrm>
          <a:prstGeom prst="rect">
            <a:avLst/>
          </a:prstGeom>
        </p:spPr>
      </p:pic>
      <p:pic>
        <p:nvPicPr>
          <p:cNvPr id="17414" name="Picture 17413">
            <a:extLst>
              <a:ext uri="{FF2B5EF4-FFF2-40B4-BE49-F238E27FC236}">
                <a16:creationId xmlns:a16="http://schemas.microsoft.com/office/drawing/2014/main" id="{596B7907-067C-8389-B92C-B2B3ED2ED5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719" y="1225097"/>
            <a:ext cx="2065957" cy="1032979"/>
          </a:xfrm>
          <a:prstGeom prst="rect">
            <a:avLst/>
          </a:prstGeom>
        </p:spPr>
      </p:pic>
      <p:pic>
        <p:nvPicPr>
          <p:cNvPr id="17416" name="Picture 17415">
            <a:extLst>
              <a:ext uri="{FF2B5EF4-FFF2-40B4-BE49-F238E27FC236}">
                <a16:creationId xmlns:a16="http://schemas.microsoft.com/office/drawing/2014/main" id="{0F7B02F6-8E12-5B54-4536-2787297DA7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0434" y="4113013"/>
            <a:ext cx="651880" cy="936749"/>
          </a:xfrm>
          <a:prstGeom prst="rect">
            <a:avLst/>
          </a:prstGeom>
        </p:spPr>
      </p:pic>
      <p:pic>
        <p:nvPicPr>
          <p:cNvPr id="17418" name="Picture 17417">
            <a:extLst>
              <a:ext uri="{FF2B5EF4-FFF2-40B4-BE49-F238E27FC236}">
                <a16:creationId xmlns:a16="http://schemas.microsoft.com/office/drawing/2014/main" id="{C7A11A73-3057-E81D-5DD9-28B57379BEE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3056" r="12541"/>
          <a:stretch/>
        </p:blipFill>
        <p:spPr>
          <a:xfrm>
            <a:off x="4017047" y="1300850"/>
            <a:ext cx="1343396" cy="957225"/>
          </a:xfrm>
          <a:prstGeom prst="rect">
            <a:avLst/>
          </a:prstGeom>
        </p:spPr>
      </p:pic>
      <p:pic>
        <p:nvPicPr>
          <p:cNvPr id="17420" name="Picture 17419">
            <a:extLst>
              <a:ext uri="{FF2B5EF4-FFF2-40B4-BE49-F238E27FC236}">
                <a16:creationId xmlns:a16="http://schemas.microsoft.com/office/drawing/2014/main" id="{DF337936-8E1B-347C-F868-96DF58074B1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01882" y="1450959"/>
            <a:ext cx="844654" cy="798462"/>
          </a:xfrm>
          <a:prstGeom prst="rect">
            <a:avLst/>
          </a:prstGeom>
        </p:spPr>
      </p:pic>
      <p:pic>
        <p:nvPicPr>
          <p:cNvPr id="17422" name="Picture 17421">
            <a:extLst>
              <a:ext uri="{FF2B5EF4-FFF2-40B4-BE49-F238E27FC236}">
                <a16:creationId xmlns:a16="http://schemas.microsoft.com/office/drawing/2014/main" id="{8E2FF238-3111-FBA1-0FC8-A2974E2CDAE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5431" y="4138996"/>
            <a:ext cx="1089474" cy="816054"/>
          </a:xfrm>
          <a:prstGeom prst="rect">
            <a:avLst/>
          </a:prstGeom>
        </p:spPr>
      </p:pic>
      <p:pic>
        <p:nvPicPr>
          <p:cNvPr id="17424" name="Picture 17423">
            <a:extLst>
              <a:ext uri="{FF2B5EF4-FFF2-40B4-BE49-F238E27FC236}">
                <a16:creationId xmlns:a16="http://schemas.microsoft.com/office/drawing/2014/main" id="{E5CF2752-064A-4FEC-6AAC-AF0A5DA49B9B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-295" t="11904" r="295" b="52101"/>
          <a:stretch/>
        </p:blipFill>
        <p:spPr>
          <a:xfrm>
            <a:off x="1497534" y="4193362"/>
            <a:ext cx="1098094" cy="856400"/>
          </a:xfrm>
          <a:prstGeom prst="rect">
            <a:avLst/>
          </a:prstGeom>
        </p:spPr>
      </p:pic>
      <p:pic>
        <p:nvPicPr>
          <p:cNvPr id="17425" name="Picture 17424">
            <a:extLst>
              <a:ext uri="{FF2B5EF4-FFF2-40B4-BE49-F238E27FC236}">
                <a16:creationId xmlns:a16="http://schemas.microsoft.com/office/drawing/2014/main" id="{6BCB5B26-21C0-E9DA-9BBC-7906DA0C27D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506" y="4193362"/>
            <a:ext cx="1089474" cy="81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919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68719" y="-192741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582496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-96025"/>
            <a:ext cx="2249850" cy="106233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7B25570-E42E-CD8E-C04F-75D120439857}"/>
              </a:ext>
            </a:extLst>
          </p:cNvPr>
          <p:cNvSpPr txBox="1"/>
          <p:nvPr/>
        </p:nvSpPr>
        <p:spPr>
          <a:xfrm>
            <a:off x="6648553" y="2146111"/>
            <a:ext cx="350682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</a:t>
            </a:r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SOLUTIONS</a:t>
            </a:r>
          </a:p>
          <a:p>
            <a:r>
              <a:rPr lang="en-IN" dirty="0">
                <a:solidFill>
                  <a:schemeClr val="bg1"/>
                </a:solidFill>
              </a:rPr>
              <a:t>• </a:t>
            </a: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 – based VR </a:t>
            </a: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deployment with   a centralized experiential centre for cost – efficient scalability. </a:t>
            </a:r>
          </a:p>
          <a:p>
            <a:endParaRPr lang="en-IN" dirty="0">
              <a:solidFill>
                <a:schemeClr val="bg2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IN" b="1" dirty="0"/>
          </a:p>
          <a:p>
            <a:endParaRPr lang="en-IN" b="1" dirty="0"/>
          </a:p>
          <a:p>
            <a:pPr marL="342900" indent="-342900">
              <a:buFont typeface="+mj-lt"/>
              <a:buAutoNum type="arabicPeriod"/>
            </a:pPr>
            <a:endParaRPr lang="en-IN" b="1" dirty="0"/>
          </a:p>
        </p:txBody>
      </p:sp>
      <p:sp>
        <p:nvSpPr>
          <p:cNvPr id="21" name="Oval 20" descr="Your startup LOGO">
            <a:extLst>
              <a:ext uri="{FF2B5EF4-FFF2-40B4-BE49-F238E27FC236}">
                <a16:creationId xmlns:a16="http://schemas.microsoft.com/office/drawing/2014/main" id="{BFF9C368-1FCD-896F-07FC-65901AB7F5B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20958" y="31476"/>
            <a:ext cx="2123952" cy="694567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STHAPATYAX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8BEAB57-4D8B-E3EA-B99B-A80930EDEFB5}"/>
              </a:ext>
            </a:extLst>
          </p:cNvPr>
          <p:cNvSpPr/>
          <p:nvPr/>
        </p:nvSpPr>
        <p:spPr>
          <a:xfrm>
            <a:off x="300124" y="1174476"/>
            <a:ext cx="3403733" cy="331522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VIABILITY: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The platform is highly viable as it converts BIM data into actionable material intelligence, enabling 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pre-demolition planning, waste segregation and material recovery. By connecting reusable materials with potential buyers and directing recyclable/disposable materials to appropriate facilities, it can reduce construction waste while creating economic value from recovered resources </a:t>
            </a:r>
            <a:r>
              <a:rPr lang="en-IN" sz="1400" dirty="0"/>
              <a:t>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9120444-D5B7-D835-8287-F56525A15CA6}"/>
              </a:ext>
            </a:extLst>
          </p:cNvPr>
          <p:cNvSpPr/>
          <p:nvPr/>
        </p:nvSpPr>
        <p:spPr>
          <a:xfrm>
            <a:off x="4084265" y="1151158"/>
            <a:ext cx="3793805" cy="540801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</a:p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     </a:t>
            </a:r>
          </a:p>
          <a:p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BIM DATA AVAILABILITY:</a:t>
            </a:r>
            <a:b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Older buildings may lack complete BIM models, accurate material specifications and updated building information, limiting automated material identification.</a:t>
            </a: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• MATERIAL CONDITION &amp; AI ACCURACY:</a:t>
            </a:r>
            <a:b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Correct segregation depends not only on material type but also on condition, damage, contamination and recoverability, creating challenges for AI-based classification.</a:t>
            </a: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• ECOSYSTEM &amp; INTEROPERABILITY:</a:t>
            </a:r>
            <a:b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Connecting buyers, demolition teams, recyclers and authorized disposal facilities while supporting different BIM formats requires standardized and interoperable systems.</a:t>
            </a:r>
          </a:p>
          <a:p>
            <a:pPr algn="ctr"/>
            <a:endParaRPr lang="en-IN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D56EE8D-FA38-DF4B-A44D-934278E7CFD3}"/>
              </a:ext>
            </a:extLst>
          </p:cNvPr>
          <p:cNvSpPr/>
          <p:nvPr/>
        </p:nvSpPr>
        <p:spPr>
          <a:xfrm>
            <a:off x="8258479" y="1174478"/>
            <a:ext cx="3793804" cy="5408019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b="1" dirty="0"/>
          </a:p>
          <a:p>
            <a:r>
              <a:rPr lang="en-IN" b="1" dirty="0"/>
              <a:t>•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STANDARDIZED MATERIAL PASSPORT:</a:t>
            </a:r>
            <a:b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IFC-compatible BIM data and standardized fields will generate a digital passport containing material type, quantity, location, condition and recovery potential</a:t>
            </a: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AI + HUMAN VALIDATION:</a:t>
            </a:r>
            <a:b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AI will classify materials into REUSE, RECYCLE and DISPOSE using material and condition data, with confidence scoring and expert verification for uncertain cases</a:t>
            </a:r>
            <a:r>
              <a:rPr lang="en-IN" sz="1400" dirty="0"/>
              <a:t>.</a:t>
            </a: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CIRCULAR MATERIAL NETWORK:</a:t>
            </a:r>
            <a:b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A verified marketplace will allow buyers to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bid for reusable components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, while recyclable and disposable materials are routed to appropriate authorized facilities.</a:t>
            </a: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A1D329-540C-F159-FD09-2C81807B6C3B}"/>
              </a:ext>
            </a:extLst>
          </p:cNvPr>
          <p:cNvSpPr txBox="1"/>
          <p:nvPr/>
        </p:nvSpPr>
        <p:spPr>
          <a:xfrm>
            <a:off x="8810996" y="827993"/>
            <a:ext cx="22493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         </a:t>
            </a:r>
          </a:p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SOLUTIONS: </a:t>
            </a:r>
            <a:endParaRPr lang="en-I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C30304-FF0B-F753-B13F-58B9315FA803}"/>
              </a:ext>
            </a:extLst>
          </p:cNvPr>
          <p:cNvSpPr txBox="1"/>
          <p:nvPr/>
        </p:nvSpPr>
        <p:spPr>
          <a:xfrm>
            <a:off x="4636783" y="950259"/>
            <a:ext cx="21467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         </a:t>
            </a:r>
          </a:p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PROBLEMS:</a:t>
            </a:r>
            <a:endParaRPr lang="en-I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3973EA64-BBB8-4C5C-999D-E4B8B4E23AD9}"/>
              </a:ext>
            </a:extLst>
          </p:cNvPr>
          <p:cNvGraphicFramePr/>
          <p:nvPr/>
        </p:nvGraphicFramePr>
        <p:xfrm>
          <a:off x="342471" y="1190432"/>
          <a:ext cx="5516416" cy="30861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174D68-6CA0-4395-8D1D-7358F8FA78D5}"/>
              </a:ext>
            </a:extLst>
          </p:cNvPr>
          <p:cNvSpPr txBox="1"/>
          <p:nvPr/>
        </p:nvSpPr>
        <p:spPr>
          <a:xfrm>
            <a:off x="427647" y="1739910"/>
            <a:ext cx="55164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l"/>
              </a:rPr>
              <a:t>Promotes material reuse, reduces construction waste, minimizes landfill use, and lowers the need for new material extraction and embodied carbon.</a:t>
            </a:r>
            <a:endParaRPr lang="en-IN" sz="1400" dirty="0">
              <a:latin typeface="Ariall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B1D153-4A95-46DE-9C20-E1EAFC11772A}"/>
              </a:ext>
            </a:extLst>
          </p:cNvPr>
          <p:cNvSpPr txBox="1"/>
          <p:nvPr/>
        </p:nvSpPr>
        <p:spPr>
          <a:xfrm>
            <a:off x="482385" y="3242383"/>
            <a:ext cx="55164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Creates a digital material passport using BIM + AI, providing information about material quantity, condition, lifespan, and future reuse potential.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71C8203D-3B63-4E28-A73F-0F5141E902EC}"/>
              </a:ext>
            </a:extLst>
          </p:cNvPr>
          <p:cNvGraphicFramePr/>
          <p:nvPr/>
        </p:nvGraphicFramePr>
        <p:xfrm>
          <a:off x="6320415" y="1178146"/>
          <a:ext cx="5516416" cy="30861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AC72EDDF-ADA0-4856-B072-337F168305E0}"/>
              </a:ext>
            </a:extLst>
          </p:cNvPr>
          <p:cNvSpPr txBox="1"/>
          <p:nvPr/>
        </p:nvSpPr>
        <p:spPr>
          <a:xfrm>
            <a:off x="6434118" y="1692199"/>
            <a:ext cx="51757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Transforms demolition waste into valuable assets, creating a marketplace where owners can recover value and buyers can access affordable reclaimed materials.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2316B9-EEFB-43AA-8C66-C77E169E1725}"/>
              </a:ext>
            </a:extLst>
          </p:cNvPr>
          <p:cNvSpPr txBox="1"/>
          <p:nvPr/>
        </p:nvSpPr>
        <p:spPr>
          <a:xfrm>
            <a:off x="6406684" y="3248584"/>
            <a:ext cx="51757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Connects material owners, architects, contractors, recyclers, and buyers, while encouraging design for reuse, local material networks, and a circular construction culture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IN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B4978183-5240-4B96-0B81-78B7B3B80A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95431" y="145661"/>
            <a:ext cx="212395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STHAPATYAX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552E70-1744-452F-A5EE-1D01FE7E6B0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26209" y="4552035"/>
            <a:ext cx="822799" cy="8227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ACF828-4A48-4D96-AF75-CD3AF0F8EFC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77994" y="4540966"/>
            <a:ext cx="897806" cy="8978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8A5E2D5-0DB7-400A-AD10-7F05EE35A90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80514" y="4548686"/>
            <a:ext cx="897806" cy="8978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BFC69B4-6847-43F6-ACC1-ADC64A2E923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908835" y="4675188"/>
            <a:ext cx="723464" cy="72346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7235499-7475-4A75-BCAA-FF9D2ADE1335}"/>
              </a:ext>
            </a:extLst>
          </p:cNvPr>
          <p:cNvSpPr txBox="1"/>
          <p:nvPr/>
        </p:nvSpPr>
        <p:spPr>
          <a:xfrm>
            <a:off x="226056" y="4210586"/>
            <a:ext cx="2454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TARGET AUDIENCE: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9343729-1459-4CE4-8B50-43D0FC92E770}"/>
              </a:ext>
            </a:extLst>
          </p:cNvPr>
          <p:cNvSpPr txBox="1"/>
          <p:nvPr/>
        </p:nvSpPr>
        <p:spPr>
          <a:xfrm>
            <a:off x="226056" y="5336336"/>
            <a:ext cx="262310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u="sng" dirty="0"/>
              <a:t>Building owners</a:t>
            </a:r>
            <a:r>
              <a:rPr lang="en-US" dirty="0"/>
              <a:t>: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Identify the value and condition of existing materials, then reuse, sell, or recover them instead of sending them directly to waste.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18532DD-37FF-4EB8-AB24-737A6D8270E4}"/>
              </a:ext>
            </a:extLst>
          </p:cNvPr>
          <p:cNvSpPr txBox="1"/>
          <p:nvPr/>
        </p:nvSpPr>
        <p:spPr>
          <a:xfrm>
            <a:off x="2905709" y="5386591"/>
            <a:ext cx="29531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u="sng" dirty="0"/>
              <a:t>Buyers</a:t>
            </a:r>
            <a:r>
              <a:rPr lang="en-US" sz="1600" dirty="0"/>
              <a:t>: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Easily discover, compare, and bid for suitable reclaimed materials based on quantity, condition, location, and suggested reuse.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E8BB004-C665-4776-ADB9-EF59ACC9D5DE}"/>
              </a:ext>
            </a:extLst>
          </p:cNvPr>
          <p:cNvSpPr txBox="1"/>
          <p:nvPr/>
        </p:nvSpPr>
        <p:spPr>
          <a:xfrm>
            <a:off x="5889238" y="5438772"/>
            <a:ext cx="295317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u="sng" dirty="0"/>
              <a:t>Architects</a:t>
            </a:r>
            <a:r>
              <a:rPr lang="en-US" sz="1600" dirty="0"/>
              <a:t>: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Use BIM-based material passports to track materials, understand their lifecycle, and plan for future reuse.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AF8710-F02B-484A-95A1-154A9B71DC34}"/>
              </a:ext>
            </a:extLst>
          </p:cNvPr>
          <p:cNvSpPr txBox="1"/>
          <p:nvPr/>
        </p:nvSpPr>
        <p:spPr>
          <a:xfrm>
            <a:off x="8842416" y="5367114"/>
            <a:ext cx="312352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u="sng" dirty="0"/>
              <a:t>Recyclers</a:t>
            </a:r>
            <a:r>
              <a:rPr lang="en-US" sz="1600" dirty="0"/>
              <a:t>: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Receive categorized materials requiring recycling or treatment, making material recovery and responsible disposal 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more efficient.</a:t>
            </a:r>
          </a:p>
        </p:txBody>
      </p:sp>
    </p:spTree>
    <p:extLst>
      <p:ext uri="{BB962C8B-B14F-4D97-AF65-F5344CB8AC3E}">
        <p14:creationId xmlns:p14="http://schemas.microsoft.com/office/powerpoint/2010/main" val="2528681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255584" y="1502247"/>
            <a:ext cx="93853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MATERIAL PASSPORT 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10000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7A67E4F-DE48-E982-0533-680018E983A7}"/>
              </a:ext>
            </a:extLst>
          </p:cNvPr>
          <p:cNvSpPr txBox="1"/>
          <p:nvPr/>
        </p:nvSpPr>
        <p:spPr>
          <a:xfrm>
            <a:off x="609600" y="1828562"/>
            <a:ext cx="886869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  <a:hlinkClick r:id="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hlinkClick r:id=""/>
              </a:rPr>
              <a:t>https://www.linkedin.com/pulse/from-take-make-waste-circular-how-bim-powering-material-hhq3c?utm_source=share&amp;utm_medium=member_android&amp;utm_campaign=share_via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https://share.google/J9Q7XArKoGuaADDgz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https://share.google/3zVmtDSzNIIAUeg46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8" name="Oval 7" descr="Your startup LOGO">
            <a:extLst>
              <a:ext uri="{FF2B5EF4-FFF2-40B4-BE49-F238E27FC236}">
                <a16:creationId xmlns:a16="http://schemas.microsoft.com/office/drawing/2014/main" id="{C8971BBE-205E-CCF8-20E3-27731C6E4CD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95431" y="145661"/>
            <a:ext cx="212395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STHAPATYAX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0F00D5D9-A3E1-5E31-A2A8-92C89B5A94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431" y="3575582"/>
            <a:ext cx="93853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WEBSITE REASEARCH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46FBD4-A36A-D339-AA24-2EFA86B38BF6}"/>
              </a:ext>
            </a:extLst>
          </p:cNvPr>
          <p:cNvSpPr txBox="1"/>
          <p:nvPr/>
        </p:nvSpPr>
        <p:spPr>
          <a:xfrm>
            <a:off x="609599" y="3868619"/>
            <a:ext cx="88686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  <a:hlinkClick r:id="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https://share.google/wJEuTtWOXVpILQGCX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https://share.google/4dkCnX1r7R0Y0cfSn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3741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8236</TotalTime>
  <Words>1031</Words>
  <Application>Microsoft Office PowerPoint</Application>
  <PresentationFormat>Widescreen</PresentationFormat>
  <Paragraphs>123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Ariall</vt:lpstr>
      <vt:lpstr>Calibri</vt:lpstr>
      <vt:lpstr>Garamond</vt:lpstr>
      <vt:lpstr>Times New Roman</vt:lpstr>
      <vt:lpstr>TradeGothic</vt:lpstr>
      <vt:lpstr>Office Theme</vt:lpstr>
      <vt:lpstr>SMART INDIA HACKATHON 2026</vt:lpstr>
      <vt:lpstr> Smart construction waste segregation &amp; sustainable disposal system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NEERAJ R B - [CB.AC.U5ARC24017]</cp:lastModifiedBy>
  <cp:revision>157</cp:revision>
  <dcterms:created xsi:type="dcterms:W3CDTF">2013-12-12T18:46:50Z</dcterms:created>
  <dcterms:modified xsi:type="dcterms:W3CDTF">2026-09-15T10:11:02Z</dcterms:modified>
  <cp:category/>
</cp:coreProperties>
</file>